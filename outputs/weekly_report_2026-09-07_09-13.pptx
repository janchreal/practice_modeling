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858695f3734299" /><Relationship Type="http://schemas.openxmlformats.org/officeDocument/2006/relationships/extended-properties" Target="/docProps/app.xml" Id="R91f877b129aa4d63" /><Relationship Type="http://schemas.openxmlformats.org/officeDocument/2006/relationships/officeDocument" Target="/ppt/presentation.xml" Id="R05cf6c8b4658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aca6fd5122480b"/>
    <p:sldMasterId xmlns:r="http://schemas.openxmlformats.org/officeDocument/2006/relationships" id="2147483652" r:id="Rec4916812d9647ea"/>
  </p:sldMasterIdLst>
  <p:notesMasterIdLst>
    <p:notesMasterId xmlns:r="http://schemas.openxmlformats.org/officeDocument/2006/relationships" r:id="Rac7d35736f5a465f"/>
  </p:notesMasterIdLst>
  <p:sldIdLst>
    <p:sldId xmlns:r="http://schemas.openxmlformats.org/officeDocument/2006/relationships" id="256" r:id="Rf7116e46464e460c"/>
    <p:sldId xmlns:r="http://schemas.openxmlformats.org/officeDocument/2006/relationships" id="257" r:id="Rc28ed4045d5a4de7"/>
    <p:sldId xmlns:r="http://schemas.openxmlformats.org/officeDocument/2006/relationships" id="258" r:id="Rc2727d7fc1ce4596"/>
    <p:sldId xmlns:r="http://schemas.openxmlformats.org/officeDocument/2006/relationships" id="259" r:id="R2a90438d1f1f46d2"/>
    <p:sldId xmlns:r="http://schemas.openxmlformats.org/officeDocument/2006/relationships" id="260" r:id="R9f988b9bcbd8419c"/>
    <p:sldId xmlns:r="http://schemas.openxmlformats.org/officeDocument/2006/relationships" id="261" r:id="Rd237404ceed842b9"/>
    <p:sldId xmlns:r="http://schemas.openxmlformats.org/officeDocument/2006/relationships" id="262" r:id="R028595cd975e4faf"/>
    <p:sldId xmlns:r="http://schemas.openxmlformats.org/officeDocument/2006/relationships" id="263" r:id="R66748eb3056340d7"/>
    <p:sldId xmlns:r="http://schemas.openxmlformats.org/officeDocument/2006/relationships" id="264" r:id="R35e948974ed84aac"/>
    <p:sldId xmlns:r="http://schemas.openxmlformats.org/officeDocument/2006/relationships" id="265" r:id="R4d8225f6e75e4167"/>
    <p:sldId xmlns:r="http://schemas.openxmlformats.org/officeDocument/2006/relationships" id="266" r:id="R12c0dfd61dbb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dd04f71149434c" /><Relationship Type="http://schemas.openxmlformats.org/officeDocument/2006/relationships/slideMaster" Target="/ppt/slideMasters/slideMaster1.xml" Id="R34aca6fd5122480b" /><Relationship Type="http://schemas.openxmlformats.org/officeDocument/2006/relationships/slideMaster" Target="/ppt/slideMasters/slideMaster2.xml" Id="Rec4916812d9647ea" /><Relationship Type="http://schemas.openxmlformats.org/officeDocument/2006/relationships/notesMaster" Target="/ppt/notesMasters/notesMaster1.xml" Id="Rac7d35736f5a465f" /><Relationship Type="http://schemas.openxmlformats.org/officeDocument/2006/relationships/presProps" Target="/ppt/presProps.xml" Id="Rfca10dd8e3ae4ebf" /><Relationship Type="http://schemas.openxmlformats.org/officeDocument/2006/relationships/viewProps" Target="/ppt/viewProps.xml" Id="R9091fdd616414367" /><Relationship Type="http://schemas.openxmlformats.org/officeDocument/2006/relationships/tableStyles" Target="/ppt/tableStyles.xml" Id="Rc474f98260454bde" /><Relationship Type="http://schemas.openxmlformats.org/officeDocument/2006/relationships/slide" Target="/ppt/slides/slide1.xml" Id="Rf7116e46464e460c" /><Relationship Type="http://schemas.openxmlformats.org/officeDocument/2006/relationships/slide" Target="/ppt/slides/slide2.xml" Id="Rc28ed4045d5a4de7" /><Relationship Type="http://schemas.openxmlformats.org/officeDocument/2006/relationships/slide" Target="/ppt/slides/slide3.xml" Id="Rc2727d7fc1ce4596" /><Relationship Type="http://schemas.openxmlformats.org/officeDocument/2006/relationships/slide" Target="/ppt/slides/slide4.xml" Id="R2a90438d1f1f46d2" /><Relationship Type="http://schemas.openxmlformats.org/officeDocument/2006/relationships/slide" Target="/ppt/slides/slide5.xml" Id="R9f988b9bcbd8419c" /><Relationship Type="http://schemas.openxmlformats.org/officeDocument/2006/relationships/slide" Target="/ppt/slides/slide6.xml" Id="Rd237404ceed842b9" /><Relationship Type="http://schemas.openxmlformats.org/officeDocument/2006/relationships/slide" Target="/ppt/slides/slide7.xml" Id="R028595cd975e4faf" /><Relationship Type="http://schemas.openxmlformats.org/officeDocument/2006/relationships/slide" Target="/ppt/slides/slide8.xml" Id="R66748eb3056340d7" /><Relationship Type="http://schemas.openxmlformats.org/officeDocument/2006/relationships/slide" Target="/ppt/slides/slide9.xml" Id="R35e948974ed84aac" /><Relationship Type="http://schemas.openxmlformats.org/officeDocument/2006/relationships/slide" Target="/ppt/slides/slide10.xml" Id="R4d8225f6e75e4167" /><Relationship Type="http://schemas.openxmlformats.org/officeDocument/2006/relationships/slide" Target="/ppt/slides/slide11.xml" Id="R12c0dfd61dbb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cfc9f855bcc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690dbfec9e47b3" /><Relationship Type="http://schemas.openxmlformats.org/officeDocument/2006/relationships/notesMaster" Target="/ppt/notesMasters/notesMaster1.xml" Id="R1a5b618a030240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6baaf4157f4077" /><Relationship Type="http://schemas.openxmlformats.org/officeDocument/2006/relationships/notesMaster" Target="/ppt/notesMasters/notesMaster1.xml" Id="R12cf76af9c024d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529ef58b6e402e" /><Relationship Type="http://schemas.openxmlformats.org/officeDocument/2006/relationships/notesMaster" Target="/ppt/notesMasters/notesMaster1.xml" Id="Ra784dd2b80ec46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5b56d0c62430d" /><Relationship Type="http://schemas.openxmlformats.org/officeDocument/2006/relationships/notesMaster" Target="/ppt/notesMasters/notesMaster1.xml" Id="R53fea13b16aa43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9529ba7a04ec1" /><Relationship Type="http://schemas.openxmlformats.org/officeDocument/2006/relationships/notesMaster" Target="/ppt/notesMasters/notesMaster1.xml" Id="Rebf10ec1ce7d4e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efc5d3f07047fb" /><Relationship Type="http://schemas.openxmlformats.org/officeDocument/2006/relationships/notesMaster" Target="/ppt/notesMasters/notesMaster1.xml" Id="R9237d881643a41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03dd9290ca4e63" /><Relationship Type="http://schemas.openxmlformats.org/officeDocument/2006/relationships/notesMaster" Target="/ppt/notesMasters/notesMaster1.xml" Id="R8bbb145615df4b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9e75ddbe354422" /><Relationship Type="http://schemas.openxmlformats.org/officeDocument/2006/relationships/notesMaster" Target="/ppt/notesMasters/notesMaster1.xml" Id="R4cfa12b95be64b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b22387fb8f4c1d" /><Relationship Type="http://schemas.openxmlformats.org/officeDocument/2006/relationships/notesMaster" Target="/ppt/notesMasters/notesMaster1.xml" Id="R0c6ad82692c24c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f2b9facf84439c" /><Relationship Type="http://schemas.openxmlformats.org/officeDocument/2006/relationships/notesMaster" Target="/ppt/notesMasters/notesMaster1.xml" Id="R2471d7a09d2044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25a724117f44af" /><Relationship Type="http://schemas.openxmlformats.org/officeDocument/2006/relationships/notesMaster" Target="/ppt/notesMasters/notesMaster1.xml" Id="Ree9bac56aecc44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依据：C:\Users\陈景煌\Desktop\9.7-9.13.txt；git show --stat 80c2250；git show --stat de28007。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依据：src\interaction\tools\vector_handles.cpp；src\interaction\tools\vector_snap.cpp；src\viewport\main_view\main_viewport.cpp。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依据：src\interaction\tools\vector_handles.cpp；src\presentation\main_window\main_window_events.cpp；src\viewport\main_view\mouse_interactor.cpp。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依据：C:\Users\陈景煌\Desktop\9.7-9.13.txt；src\presentation\dialogs\tools\vector_dialog.cpp；src\presentation\dialogs\coordinates\datum_axis.cpp。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依据：rg --files；Practice_Modeling.vcxproj 中 vector_snap.cpp 和 vector_handles.cpp 的编译项；80c2250 提交统计。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依据：src\rendering\pipeline\model_shape_pipeline.cpp；src\rendering\model\shape_presentation_factory.cpp；de28007 提交统计。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依据：D:\OCCT7.7.0\Install\inc\BRepMesh_IncrementalMesh.hxx；src 中对 BRepMesh_IncrementalMesh 的全局搜索；de28007 最终说明。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依据：C:\Users\陈景煌\Desktop\9.7-9.13.txt；过往任务记录中关于点选高亮、球/圆柱交界锯齿、TKIVtk 与 VTK 依赖排查的说明。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d817df990941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f8c21793c49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c7382425649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bde4cf731448f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2E8324-94CE-44B3-8D66-F47A3243FED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98800" y="914400"/>
            <a:ext cx="9799200" cy="2570400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44A1456-A0D8-4944-8525-B400422AD9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198800" y="3560400"/>
            <a:ext cx="9799200" cy="14724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A6359C60-552E-487C-B972-D10C45201A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117C5075-1D81-47F9-9F32-E60D820A72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EFCA32DD-39C3-41A5-A51A-372D2C22E5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sldNum="0" ftr="0" dt="0"/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E3CBEAD-3AAD-42B6-B873-2678F1D09715}"/>
              </a:ext>
            </a:extLst>
          </p:cNvPr>
          <p:cNvSpPr>
            <a:spLocks xmlns:a="http://schemas.openxmlformats.org/drawingml/2006/main" noGrp="1"/>
          </p:cNvSpPr>
          <p:nvPr>
            <p:ph type="dt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84934B-422C-4E64-A9F1-EF525AD866E7}"/>
              </a:ext>
            </a:extLst>
          </p:cNvPr>
          <p:cNvSpPr>
            <a:spLocks xmlns:a="http://schemas.openxmlformats.org/drawingml/2006/main" noGrp="1"/>
          </p:cNvSpPr>
          <p:nvPr>
            <p:ph type="ftr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C8FBC01-E03F-4B59-8BAF-D2D2049A993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17BD43C-78E6-481C-8B4E-390D558D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031" y="3367444"/>
            <a:ext cx="453650" cy="137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buNone/>
            </a:pP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行业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PPT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模板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http://www.1ppt.com/hangye/</a:t>
            </a:r>
            <a:endParaRPr sz="100">
              <a:solidFill>
                <a:schemeClr val="tx1">
                  <a:alpha val="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8">
            <a:extLst xmlns:a="http://schemas.openxmlformats.org/drawingml/2006/main">
              <a:ext uri="{FF2B5EF4-FFF2-40B4-BE49-F238E27FC236}">
                <a16:creationId xmlns:a16="http://schemas.microsoft.com/office/drawing/2014/main" id="{B2A153D4-80E5-483A-A8DE-2D6CA07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627" y="2215277"/>
            <a:ext cx="540060" cy="1372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buNone/>
            </a:pP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行业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PPT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模板</a:t>
            </a: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http://www.1ppt.com/hangye/</a:t>
            </a:r>
            <a:endParaRPr sz="100">
              <a:solidFill>
                <a:schemeClr val="tx1">
                  <a:alpha val="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38B59EBD-7F40-476A-B215-5535C30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400" b="0" i="0" u="none" kern="1200" cap="none" spc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2pPr>
            <a:lvl3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3pPr>
            <a:lvl4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4pPr>
            <a:lvl5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5pPr>
            <a:lvl6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6pPr>
            <a:lvl7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7pPr>
            <a:lvl8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8pPr>
            <a:lvl9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800" b="0" i="0" u="none" kern="1200" cap="none" spc="0" baseline="0">
                <a:solidFill>
                  <a:schemeClr val="phClr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D47B7BD-FE51-4409-AE9A-537ACFDC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lIns="91440" tIns="45720" rIns="91440" bIns="45720" anchor="b"/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/>
              <a:buNone/>
              <a:defRPr sz="24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20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8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marR="0" indent="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None/>
              <a:defRPr sz="1600" b="1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9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9BDCFAF-C5F6-4299-A24C-45E01788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228600" marR="0" indent="-228600" algn="l" defTabSz="91440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2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24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20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marR="0" indent="-228600" algn="l" defTabSz="9144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/>
              <a:buChar char="•"/>
              <a:defRPr sz="1800" b="0" i="0" u="none" kern="1200" cap="none" spc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00F868F-8542-4013-85DC-1B18850F525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11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DD8C557-CBBB-4E01-A9C0-BCD3C578C61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2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E14CD00-C0F5-4E34-9840-1731086276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44EC5AB-45C9-40E9-8BC5-3A2FBE1432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sldNum="0" ftr="0" dt="0"/>
</p:sldLayout>
</file>

<file path=ppt/slideLayouts/slideLayout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7E854B-9454-4E62-BF22-A403C66A8B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841033D-0C69-41DA-B3A1-DDE4B18694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B50484-A004-4835-8136-5E7510CF66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B9FB092-6C69-46B8-91C5-46D4A5524F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E85294-BC1B-43C9-B6F3-705185698E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hf sldNum="0" ftr="0" dt="0"/>
</p:sldLayout>
</file>

<file path=ppt/slideLayouts/slideLayout4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ea3476e9884041" /><Relationship Type="http://schemas.openxmlformats.org/officeDocument/2006/relationships/slideLayout" Target="/ppt/slideLayouts/slideLayout1.xml" Id="R6400f6a49138412f" /><Relationship Type="http://schemas.openxmlformats.org/officeDocument/2006/relationships/slideLayout" Target="/ppt/slideLayouts/slideLayout2.xml" Id="R79106962412d4d90" /><Relationship Type="http://schemas.openxmlformats.org/officeDocument/2006/relationships/slideLayout" Target="/ppt/slideLayouts/slideLayout3.xml" Id="Rcbccced49ec34d3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07e4943fec249f4" /><Relationship Type="http://schemas.openxmlformats.org/officeDocument/2006/relationships/slideLayout" Target="/ppt/slideLayouts/slideLayout4.xml" Id="R4e73588772904802" /></Relationships>
</file>

<file path=ppt/slideMasters/slideMaster1.xml><?xml version="1.0" encoding="utf-8"?>
<p:sldMaster xmlns:p="http://schemas.openxmlformats.org/presentationml/2006/main">
  <p:cSld>
    <p:bg>
      <p:bgRef idx="1003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ADE7F30-3B7B-41E5-8F94-1F4AA7C34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B199E7C-13A3-4831-A125-6F8B6BFEC8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7BCF9A3-964F-418E-9CD6-2BF0B2BAE72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029B44F-1337-4F2A-A5EA-D4894018F2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AE6C39-1B22-4BF6-9C67-1734720545C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0f6a49138412f"/>
    <p:sldLayoutId xmlns:r="http://schemas.openxmlformats.org/officeDocument/2006/relationships" id="2147483650" r:id="R79106962412d4d90"/>
    <p:sldLayoutId xmlns:r="http://schemas.openxmlformats.org/officeDocument/2006/relationships" id="2147483651" r:id="Rcbccced49ec34d39"/>
  </p:sldLayoutIdLst>
  <p:hf sldNum="0" ftr="0" dt="0"/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1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ct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ct val="0"/>
        </a:spcBef>
        <a:spcAft>
          <a:spcPts val="600"/>
        </a:spcAft>
        <a:buFont typeface="Arial"/>
        <a:buChar char="●"/>
        <a:tabLst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ct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ct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ct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4e73588772904802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ded61d3b34ddc" /><Relationship Type="http://schemas.openxmlformats.org/officeDocument/2006/relationships/image" Target="/ppt/media/image.png" Id="Reb9e6b7c52044411" /><Relationship Type="http://schemas.openxmlformats.org/officeDocument/2006/relationships/image" Target="/ppt/media/image.svg" Id="Rb03bc19fe9ea433c" /><Relationship Type="http://schemas.openxmlformats.org/officeDocument/2006/relationships/image" Target="/ppt/media/image2.png" Id="R75851cd7f75e414b" /><Relationship Type="http://schemas.openxmlformats.org/officeDocument/2006/relationships/image" Target="/ppt/media/image3.png" Id="R72693f54811c4d15" /><Relationship Type="http://schemas.openxmlformats.org/officeDocument/2006/relationships/image" Target="/ppt/media/image2.svg" Id="R35c5463115d54d4e" /><Relationship Type="http://schemas.openxmlformats.org/officeDocument/2006/relationships/notesSlide" Target="/ppt/notesSlides/notesSlide1.xml" Id="R63e9834902b940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7271c23ae14c0c" /><Relationship Type="http://schemas.openxmlformats.org/officeDocument/2006/relationships/image" Target="/ppt/media/image.png" Id="R3621a584273e486f" /><Relationship Type="http://schemas.openxmlformats.org/officeDocument/2006/relationships/image" Target="/ppt/media/image.svg" Id="Rc69206ccd1264b42" /><Relationship Type="http://schemas.openxmlformats.org/officeDocument/2006/relationships/image" Target="/ppt/media/image4.png" Id="R0c8f6abe099d413d" /><Relationship Type="http://schemas.openxmlformats.org/officeDocument/2006/relationships/notesSlide" Target="/ppt/notesSlides/notesSlide2.xml" Id="Rd926e9e3b4a643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f7c3101ec74bc0" /><Relationship Type="http://schemas.openxmlformats.org/officeDocument/2006/relationships/image" Target="/ppt/media/image.jpeg" Id="Rb6eb2a3e88f142ce" /><Relationship Type="http://schemas.openxmlformats.org/officeDocument/2006/relationships/image" Target="/ppt/media/image5.png" Id="R0b7bc4be200f4f7c" /><Relationship Type="http://schemas.openxmlformats.org/officeDocument/2006/relationships/image" Target="/ppt/media/image3.svg" Id="R3eb98f51ebd84ee1" /><Relationship Type="http://schemas.openxmlformats.org/officeDocument/2006/relationships/image" Target="/ppt/media/image4.png" Id="Rc36751aa39fe4184" /><Relationship Type="http://schemas.openxmlformats.org/officeDocument/2006/relationships/notesSlide" Target="/ppt/notesSlides/notesSlide3.xml" Id="Rd0efa8e5ae8e40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46807930b3410f" /><Relationship Type="http://schemas.openxmlformats.org/officeDocument/2006/relationships/image" Target="/ppt/media/image.jpeg" Id="R8ec67136297c4f5a" /><Relationship Type="http://schemas.openxmlformats.org/officeDocument/2006/relationships/image" Target="/ppt/media/image5.png" Id="R1eaead1b68f54508" /><Relationship Type="http://schemas.openxmlformats.org/officeDocument/2006/relationships/image" Target="/ppt/media/image3.svg" Id="R452d2379ebe64cf7" /><Relationship Type="http://schemas.openxmlformats.org/officeDocument/2006/relationships/image" Target="/ppt/media/image4.png" Id="R8735321273d74cef" /><Relationship Type="http://schemas.openxmlformats.org/officeDocument/2006/relationships/notesSlide" Target="/ppt/notesSlides/notesSlide4.xml" Id="R9eb87862f6a74c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faf4791e2c4d3c" /><Relationship Type="http://schemas.openxmlformats.org/officeDocument/2006/relationships/image" Target="/ppt/media/image.jpeg" Id="Rdf165f7afc2c4cce" /><Relationship Type="http://schemas.openxmlformats.org/officeDocument/2006/relationships/image" Target="/ppt/media/image6.png" Id="Rcb67b1763bfc4f29" /><Relationship Type="http://schemas.openxmlformats.org/officeDocument/2006/relationships/image" Target="/ppt/media/image4.svg" Id="R8e3abadfb2bf4f61" /><Relationship Type="http://schemas.openxmlformats.org/officeDocument/2006/relationships/image" Target="/ppt/media/image4.png" Id="R66aa7e434d5f46c3" /><Relationship Type="http://schemas.openxmlformats.org/officeDocument/2006/relationships/notesSlide" Target="/ppt/notesSlides/notesSlide5.xml" Id="R6fcb50edafb844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80054d91774315" /><Relationship Type="http://schemas.openxmlformats.org/officeDocument/2006/relationships/image" Target="/ppt/media/image.jpeg" Id="R385cb46312e843de" /><Relationship Type="http://schemas.openxmlformats.org/officeDocument/2006/relationships/image" Target="/ppt/media/image7.png" Id="R4cb0039354194741" /><Relationship Type="http://schemas.openxmlformats.org/officeDocument/2006/relationships/image" Target="/ppt/media/image5.svg" Id="R890f771cef62470b" /><Relationship Type="http://schemas.openxmlformats.org/officeDocument/2006/relationships/image" Target="/ppt/media/image4.png" Id="R2a754f66fd6a4fb1" /><Relationship Type="http://schemas.openxmlformats.org/officeDocument/2006/relationships/notesSlide" Target="/ppt/notesSlides/notesSlide6.xml" Id="R10e115e11c364d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b7b5ec038e4b8c" /><Relationship Type="http://schemas.openxmlformats.org/officeDocument/2006/relationships/image" Target="/ppt/media/image.jpeg" Id="Ra8859f57f4c5449f" /><Relationship Type="http://schemas.openxmlformats.org/officeDocument/2006/relationships/image" Target="/ppt/media/image8.png" Id="Rfea01fc6502a4107" /><Relationship Type="http://schemas.openxmlformats.org/officeDocument/2006/relationships/image" Target="/ppt/media/image6.svg" Id="R9865e4db76a24bb3" /><Relationship Type="http://schemas.openxmlformats.org/officeDocument/2006/relationships/image" Target="/ppt/media/image4.png" Id="R689e5c6c4a414360" /><Relationship Type="http://schemas.openxmlformats.org/officeDocument/2006/relationships/notesSlide" Target="/ppt/notesSlides/notesSlide7.xml" Id="R3f0a610944cc4e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f3ea3e77104a71" /><Relationship Type="http://schemas.openxmlformats.org/officeDocument/2006/relationships/image" Target="/ppt/media/image.jpeg" Id="Rb1f259534aee41f8" /><Relationship Type="http://schemas.openxmlformats.org/officeDocument/2006/relationships/image" Target="/ppt/media/image9.png" Id="R34c8eaa2f5ae4147" /><Relationship Type="http://schemas.openxmlformats.org/officeDocument/2006/relationships/image" Target="/ppt/media/image7.svg" Id="R8deb662d8a0d4f4d" /><Relationship Type="http://schemas.openxmlformats.org/officeDocument/2006/relationships/image" Target="/ppt/media/image4.png" Id="R62e935cbe5ee4411" /><Relationship Type="http://schemas.openxmlformats.org/officeDocument/2006/relationships/notesSlide" Target="/ppt/notesSlides/notesSlide8.xml" Id="R3406cfbdc1d942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87d8b40f884053" /><Relationship Type="http://schemas.openxmlformats.org/officeDocument/2006/relationships/image" Target="/ppt/media/image.jpeg" Id="R51fa353137c34f63" /><Relationship Type="http://schemas.openxmlformats.org/officeDocument/2006/relationships/image" Target="/ppt/media/image10.png" Id="R45be2edee4ad4ea8" /><Relationship Type="http://schemas.openxmlformats.org/officeDocument/2006/relationships/image" Target="/ppt/media/image8.svg" Id="R0c65c6cdd4094ad8" /><Relationship Type="http://schemas.openxmlformats.org/officeDocument/2006/relationships/image" Target="/ppt/media/image4.png" Id="R067b8f95bfbe482d" /><Relationship Type="http://schemas.openxmlformats.org/officeDocument/2006/relationships/notesSlide" Target="/ppt/notesSlides/notesSlide9.xml" Id="Re07d7cc5b2da49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07d25d15e043b8" /><Relationship Type="http://schemas.openxmlformats.org/officeDocument/2006/relationships/image" Target="/ppt/media/image.jpeg" Id="Rd056d06bf68d4eec" /><Relationship Type="http://schemas.openxmlformats.org/officeDocument/2006/relationships/image" Target="/ppt/media/image11.png" Id="R6ad885700c06476d" /><Relationship Type="http://schemas.openxmlformats.org/officeDocument/2006/relationships/image" Target="/ppt/media/image9.svg" Id="R557c660be26b4bc3" /><Relationship Type="http://schemas.openxmlformats.org/officeDocument/2006/relationships/image" Target="/ppt/media/image4.png" Id="R3691dfcfa3544a68" /><Relationship Type="http://schemas.openxmlformats.org/officeDocument/2006/relationships/notesSlide" Target="/ppt/notesSlides/notesSlide10.xml" Id="R640e31dd24ed42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8854b78c4279" /><Relationship Type="http://schemas.openxmlformats.org/officeDocument/2006/relationships/image" Target="/ppt/media/image.png" Id="R1dbf35dc4304456c" /><Relationship Type="http://schemas.openxmlformats.org/officeDocument/2006/relationships/image" Target="/ppt/media/image.svg" Id="R3673705f21f7430e" /><Relationship Type="http://schemas.openxmlformats.org/officeDocument/2006/relationships/image" Target="/ppt/media/image2.png" Id="R967d2d8227de48e2" /><Relationship Type="http://schemas.openxmlformats.org/officeDocument/2006/relationships/image" Target="/ppt/media/image3.png" Id="R766ed1a116564de9" /><Relationship Type="http://schemas.openxmlformats.org/officeDocument/2006/relationships/image" Target="/ppt/media/image2.svg" Id="Rca0e34abd2d74147" /><Relationship Type="http://schemas.openxmlformats.org/officeDocument/2006/relationships/notesSlide" Target="/ppt/notesSlides/notesSlide11.xml" Id="R0868fc7cb4c041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e6b7c52044411">
            <a:extLst>
              <a:ext uri="{96DAC541-7B7A-43D3-8B79-37D633B846F1}">
                <asvg:svgBlip xmlns:asvg="http://schemas.microsoft.com/office/drawing/2016/SVG/main" r:embed="Rb03bc19fe9ea43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51cd7f75e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9245" y="3634105"/>
            <a:ext cx="11574145" cy="2417445"/>
          </a:xfrm>
          <a:prstGeom xmlns:a="http://schemas.openxmlformats.org/drawingml/2006/main" prst="rect">
            <a:avLst/>
          </a:prstGeom>
        </p:spPr>
      </p:pic>
      <p:pic>
        <p:nvPicPr>
          <p:cNvPr id="18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93f54811c4d15">
            <a:extLst>
              <a:ext uri="{96DAC541-7B7A-43D3-8B79-37D633B846F1}">
                <asvg:svgBlip xmlns:asvg="http://schemas.microsoft.com/office/drawing/2016/SVG/main" r:embed="R35c5463115d54d4e"/>
              </a:ext>
            </a:extLst>
          </a:blip>
          <a:srcRect xmlns:a="http://schemas.openxmlformats.org/drawingml/2006/main" l="0" t="2776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5435" y="5687695"/>
            <a:ext cx="11581130" cy="867410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7E6801C-D153-4445-AC66-7EA5CFB988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0" y="1961537"/>
            <a:ext cx="12191999" cy="10591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0">
                <a:solidFill>
                  <a:srgbClr val="2F477F"/>
                </a:solidFill>
                <a:latin typeface="华文新魏"/>
                <a:ea typeface="华文新魏"/>
                <a:cs typeface="华文新魏"/>
              </a:defRPr>
            </a:pPr>
            <a:r>
              <a:rPr sz="3750" b="0">
                <a:solidFill>
                  <a:srgbClr val="2F477F"/>
                </a:solidFill>
                <a:latin typeface="华文新魏"/>
                <a:ea typeface="华文新魏"/>
                <a:cs typeface="华文新魏"/>
              </a:rPr>
              <a:t>周汇报</a:t>
            </a:r>
            <a:endParaRPr sz="7200" b="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12" name="标题 1">
            <a:extLst xmlns:a="http://schemas.openxmlformats.org/drawingml/2006/main">
              <a:ext uri="{FF2B5EF4-FFF2-40B4-BE49-F238E27FC236}">
                <a16:creationId xmlns:a16="http://schemas.microsoft.com/office/drawing/2014/main" id="{1E2372AF-CBA4-488F-9C7A-8675FE7E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575" y="3538973"/>
            <a:ext cx="6319484" cy="441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b"/>
          <a:lstStyle xmlns:a="http://schemas.openxmlformats.org/drawingml/2006/main"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6000" b="1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  <a:defRPr sz="142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✪汇报人：陈景煌    2026.9.7-9.13</a:t>
            </a:r>
            <a:endParaRPr sz="1800" b="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</p:spTree>
    <p:extLst>
      <p:ext uri="{BB962C8B-B14F-4D97-AF65-F5344CB8AC3E}">
        <p14:creationId xmlns:p14="http://schemas.microsoft.com/office/powerpoint/2010/main" val="16919399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1a584273e486f">
            <a:extLst>
              <a:ext uri="{96DAC541-7B7A-43D3-8B79-37D633B846F1}">
                <asvg:svgBlip xmlns:asvg="http://schemas.microsoft.com/office/drawing/2016/SVG/main" r:embed="Rc69206ccd1264b4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7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f6abe099d41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63E11C9-1185-403F-87D7-393ADC42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MH_Number_1">
            <a:extLst xmlns:a="http://schemas.openxmlformats.org/drawingml/2006/main">
              <a:ext uri="{FF2B5EF4-FFF2-40B4-BE49-F238E27FC236}">
                <a16:creationId xmlns:a16="http://schemas.microsoft.com/office/drawing/2014/main" id="{C17EF660-717C-4D10-B605-4B6D0FE9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648" y="2689225"/>
            <a:ext cx="379730" cy="37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 w="28575">
            <a:solidFill>
              <a:schemeClr val="bg1"/>
            </a:solidFill>
          </a:ln>
          <a:effectLst xmlns:a="http://schemas.openxmlformats.org/drawingml/2006/main"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chemeClr val="bg1"/>
                </a:solidFill>
                <a:latin typeface="华文新魏"/>
                <a:ea typeface="华文新魏"/>
                <a:cs typeface="华文新魏"/>
              </a:rPr>
              <a:t>1</a:t>
            </a:r>
            <a:endParaRPr sz="2110" b="1">
              <a:solidFill>
                <a:schemeClr val="bg1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14" name="MH_Entry_1">
            <a:extLst xmlns:a="http://schemas.openxmlformats.org/drawingml/2006/main">
              <a:ext uri="{FF2B5EF4-FFF2-40B4-BE49-F238E27FC236}">
                <a16:creationId xmlns:a16="http://schemas.microsoft.com/office/drawing/2014/main" id="{36D8FFA1-169C-46B1-BDA0-1BD5BDE2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5853" y="2667000"/>
            <a:ext cx="3041650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手柄功能</a:t>
            </a: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4" name="MH_Number_2">
            <a:extLst xmlns:a="http://schemas.openxmlformats.org/drawingml/2006/main">
              <a:ext uri="{FF2B5EF4-FFF2-40B4-BE49-F238E27FC236}">
                <a16:creationId xmlns:a16="http://schemas.microsoft.com/office/drawing/2014/main" id="{557F93B0-8F6A-4D29-90D3-76A6C632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648" y="3304540"/>
            <a:ext cx="379730" cy="37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 w="28575">
            <a:solidFill>
              <a:schemeClr val="bg1"/>
            </a:solidFill>
          </a:ln>
          <a:effectLst xmlns:a="http://schemas.openxmlformats.org/drawingml/2006/main"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chemeClr val="bg1"/>
                </a:solidFill>
                <a:latin typeface="华文新魏"/>
                <a:ea typeface="华文新魏"/>
                <a:cs typeface="华文新魏"/>
              </a:rPr>
              <a:t>2</a:t>
            </a:r>
            <a:endParaRPr sz="2110" b="1">
              <a:solidFill>
                <a:schemeClr val="bg1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7" name="MH_Entry_2">
            <a:extLst xmlns:a="http://schemas.openxmlformats.org/drawingml/2006/main">
              <a:ext uri="{FF2B5EF4-FFF2-40B4-BE49-F238E27FC236}">
                <a16:creationId xmlns:a16="http://schemas.microsoft.com/office/drawing/2014/main" id="{06175B34-DCE2-4257-8640-BF37C03A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5853" y="3328670"/>
            <a:ext cx="5125085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  <a:def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矢量工具整理</a:t>
            </a: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8" name="MH_Number_3">
            <a:extLst xmlns:a="http://schemas.openxmlformats.org/drawingml/2006/main">
              <a:ext uri="{FF2B5EF4-FFF2-40B4-BE49-F238E27FC236}">
                <a16:creationId xmlns:a16="http://schemas.microsoft.com/office/drawing/2014/main" id="{4E760044-9AD4-44BC-B9FB-C09BCE6C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4648" y="3919855"/>
            <a:ext cx="379730" cy="37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 w="28575">
            <a:solidFill>
              <a:schemeClr val="bg1"/>
            </a:solidFill>
          </a:ln>
          <a:effectLst xmlns:a="http://schemas.openxmlformats.org/drawingml/2006/main"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chemeClr val="bg1"/>
                </a:solidFill>
                <a:latin typeface="华文新魏"/>
                <a:ea typeface="华文新魏"/>
                <a:cs typeface="华文新魏"/>
              </a:rPr>
              <a:t>3</a:t>
            </a:r>
            <a:endParaRPr sz="2110" b="1">
              <a:solidFill>
                <a:schemeClr val="bg1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9" name="MH_Entry_3">
            <a:extLst xmlns:a="http://schemas.openxmlformats.org/drawingml/2006/main">
              <a:ext uri="{FF2B5EF4-FFF2-40B4-BE49-F238E27FC236}">
                <a16:creationId xmlns:a16="http://schemas.microsoft.com/office/drawing/2014/main" id="{96D1CA9E-C5DB-49B8-8297-149BFC99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15853" y="3959860"/>
            <a:ext cx="2694940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</a:pP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33" name="MH_Others_2">
            <a:extLst xmlns:a="http://schemas.openxmlformats.org/drawingml/2006/main">
              <a:ext uri="{FF2B5EF4-FFF2-40B4-BE49-F238E27FC236}">
                <a16:creationId xmlns:a16="http://schemas.microsoft.com/office/drawing/2014/main" id="{C7FCC7BE-824E-4AB7-97A3-CB271B88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503" y="1808480"/>
            <a:ext cx="5928995" cy="307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000">
                <a:solidFill>
                  <a:schemeClr val="bg1">
                    <a:lumMod val="85000"/>
                  </a:schemeClr>
                </a:solidFill>
                <a:latin typeface="华文新魏"/>
                <a:ea typeface="华文新魏"/>
                <a:cs typeface="华文新魏"/>
              </a:rPr>
              <a:t>CONTENTS</a:t>
            </a:r>
            <a:endParaRPr sz="2000">
              <a:solidFill>
                <a:schemeClr val="bg1">
                  <a:lumMod val="85000"/>
                </a:schemeClr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32" name="MH_Others_1">
            <a:extLst xmlns:a="http://schemas.openxmlformats.org/drawingml/2006/main">
              <a:ext uri="{FF2B5EF4-FFF2-40B4-BE49-F238E27FC236}">
                <a16:creationId xmlns:a16="http://schemas.microsoft.com/office/drawing/2014/main" id="{721AE34F-6851-4EC5-9485-B82B53C8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745" y="1408430"/>
            <a:ext cx="2626510" cy="1107440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outerShdw blurRad="241300" dist="88900" dir="8100000" algn="tr" rotWithShape="0">
              <a:prstClr val="black">
                <a:alpha val="13000"/>
              </a:prstClr>
            </a:outerShdw>
          </a:effectLst>
        </p:spPr>
        <p:txBody>
          <a:bodyPr xmlns:a="http://schemas.openxmlformats.org/drawingml/2006/main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324274"/>
                </a:solidFill>
                <a:latin typeface="华文新魏"/>
                <a:ea typeface="华文新魏"/>
                <a:cs typeface="华文新魏"/>
              </a:rPr>
              <a:t>目 录</a:t>
            </a:r>
            <a:endParaRPr sz="72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7" name="MH_Entry_1">
            <a:extLst xmlns:a="http://schemas.openxmlformats.org/drawingml/2006/main">
              <a:ext uri="{FF2B5EF4-FFF2-40B4-BE49-F238E27FC236}">
                <a16:creationId xmlns:a16="http://schemas.microsoft.com/office/drawing/2014/main" id="{A05B73D2-2968-424A-8646-D3146E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853" y="3961130"/>
            <a:ext cx="3041650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渲染问题</a:t>
            </a: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2" name="MH_Number_3">
            <a:extLst xmlns:a="http://schemas.openxmlformats.org/drawingml/2006/main">
              <a:ext uri="{FF2B5EF4-FFF2-40B4-BE49-F238E27FC236}">
                <a16:creationId xmlns:a16="http://schemas.microsoft.com/office/drawing/2014/main" id="{13AE6E99-EFD2-4089-B220-F1715BB8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648" y="4535170"/>
            <a:ext cx="379730" cy="37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 w="28575">
            <a:solidFill>
              <a:schemeClr val="bg1"/>
            </a:solidFill>
          </a:ln>
          <a:effectLst xmlns:a="http://schemas.openxmlformats.org/drawingml/2006/main">
            <a:outerShdw blurRad="203200" dist="1143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chemeClr val="bg1"/>
                </a:solidFill>
                <a:latin typeface="华文新魏"/>
                <a:ea typeface="华文新魏"/>
                <a:cs typeface="华文新魏"/>
              </a:rPr>
              <a:t>4</a:t>
            </a:r>
            <a:endParaRPr sz="2110" b="1">
              <a:solidFill>
                <a:schemeClr val="bg1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5" name="MH_Entry_1">
            <a:extLst xmlns:a="http://schemas.openxmlformats.org/drawingml/2006/main">
              <a:ext uri="{FF2B5EF4-FFF2-40B4-BE49-F238E27FC236}">
                <a16:creationId xmlns:a16="http://schemas.microsoft.com/office/drawing/2014/main" id="{86673940-9FB5-408A-9FDA-D441B10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5853" y="4532630"/>
            <a:ext cx="3041650" cy="430530"/>
          </a:xfrm>
          <a:custGeom xmlns:a="http://schemas.openxmlformats.org/drawingml/2006/main"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总结与下周计划</a:t>
            </a:r>
            <a:endParaRPr sz="280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</p:spTree>
    <p:extLst>
      <p:ext uri="{BB962C8B-B14F-4D97-AF65-F5344CB8AC3E}">
        <p14:creationId xmlns:p14="http://schemas.microsoft.com/office/powerpoint/2010/main" val="880368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b2a3e88f142ce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bc4be200f4f7c">
            <a:extLst>
              <a:ext uri="{96DAC541-7B7A-43D3-8B79-37D633B846F1}">
                <asvg:svgBlip xmlns:asvg="http://schemas.microsoft.com/office/drawing/2016/SVG/main" r:embed="R3eb98f51ebd84e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751aa39fe4184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27D955-41E9-49C4-8382-5AFC79B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A0A2CC2-C3C8-4910-A8F0-5BC97EA0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0"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01 本周工作总览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1.1">
            <a:extLst xmlns:a="http://schemas.openxmlformats.org/drawingml/2006/main">
              <a:ext uri="{FF2B5EF4-FFF2-40B4-BE49-F238E27FC236}">
                <a16:creationId xmlns:a16="http://schemas.microsoft.com/office/drawing/2014/main" id="{6F98C57C-A196-4B56-87C1-4DE8AC3C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1.1 主要工作：完成手柄交互和显示渲染问题的收敛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54E4894A-89FE-404B-AA20-EF9EEC23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两点确定矢量：补齐起点、终点点柄，支持选中、拖拽和捕捉吸附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矢量方向控制：矢量箭头支持双击反向，对话框状态和预览同步更新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工具归档：矢量捕捉与矢量手柄集中到 interaction/tools，减少主窗口耦合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渲染链路：从业务层手动构建 Mesh，收敛到 IVtk 统一生成显示数据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428750" y="3638550"/>
          <a:ext xmlns:a="http://schemas.openxmlformats.org/drawingml/2006/main" cx="9239250" cy="1600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714750"/>
                <a:gridCol w="3714750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本周主题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80c2250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点选反馈与两点矢量交互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Release 构建通过并推送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de28007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显示三角化交给 IVtk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移除业务层显式 Mesh 调用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357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67136297c4f5a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ead1b68f54508">
            <a:extLst>
              <a:ext uri="{96DAC541-7B7A-43D3-8B79-37D633B846F1}">
                <asvg:svgBlip xmlns:asvg="http://schemas.microsoft.com/office/drawing/2016/SVG/main" r:embed="R452d2379ebe64c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6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5321273d74cef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1B8D08B-6F08-459E-8F12-EA80861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6D6EC28-79FE-4D90-B407-0BDA4BF9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805243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02 两点确定矢量：点操作手柄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39" name="表格 7" hidden="1"/>
          <p:cNvGraphicFramePr/>
          <p:nvPr/>
        </p:nvGraphicFramePr>
        <p:xfrm>
          <a:off xmlns:a="http://schemas.openxmlformats.org/drawingml/2006/main" x="1921510" y="1754505"/>
          <a:ext xmlns:a="http://schemas.openxmlformats.org/drawingml/2006/main" cx="9199245" cy="1905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885"/>
                <a:gridCol w="1614170"/>
                <a:gridCol w="1270635"/>
                <a:gridCol w="4694555"/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类型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形状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可拖拽</a:t>
                      </a:r>
                      <a:r>
                        <a:t>性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实例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点</a:t>
                      </a:r>
                      <a:r>
                        <a:t>操作柄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球形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是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块原点、拉伸/旋转起始球、拾取点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矢量操作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箭头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否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圆柱/圆锥轴向、矢量对话框方向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距离操作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箭头</a:t>
                      </a:r>
                      <a:r>
                        <a:t>+</a:t>
                      </a:r>
                      <a:r>
                        <a:t>箭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是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拉伸起止、</a:t>
                      </a:r>
                      <a:r>
                        <a:t>长方体三轴尺寸、倒角/圆角半径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角度操作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箭头</a:t>
                      </a:r>
                      <a:r>
                        <a:t>+</a:t>
                      </a:r>
                      <a:r>
                        <a:t>箭</a:t>
                      </a:r>
                      <a:r>
                        <a:t>柄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是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旋转起止角度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40" name="表格 9" hidden="1"/>
          <p:cNvGraphicFramePr/>
          <p:nvPr/>
        </p:nvGraphicFramePr>
        <p:xfrm>
          <a:off xmlns:a="http://schemas.openxmlformats.org/drawingml/2006/main" x="1921510" y="4267835"/>
          <a:ext xmlns:a="http://schemas.openxmlformats.org/drawingml/2006/main" cx="9215120" cy="1905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816225"/>
              </a:tblGrid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i="0"/>
                        <a:t>状态</a:t>
                      </a:r>
                      <a:endParaRPr sz="180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i="0"/>
                        <a:t>颜色</a:t>
                      </a:r>
                      <a:endParaRPr sz="180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i="0"/>
                        <a:t>缩放因子</a:t>
                      </a:r>
                      <a:endParaRPr sz="180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i="0"/>
                        <a:t>触发条件</a:t>
                      </a:r>
                      <a:endParaRPr sz="1800" i="0"/>
                    </a:p>
                  </a:txBody>
                  <a:tcPr marL="57467" marR="57467" marT="32067" marB="32067" anchor="t" anchorCtr="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默认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蓝 (64,140,242)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1.00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无交互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悬浮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琥珀黄 (255,230,40)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1.22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鼠标悬停控制柄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选择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翠绿 (38,255,64)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1.28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按下未拖拽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拖拽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橙红 (255,64,26)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1.32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800" b="0" i="0"/>
                        <a:t>正在拖拽</a:t>
                      </a:r>
                      <a:endParaRPr sz="1800" b="0" i="0"/>
                    </a:p>
                  </a:txBody>
                  <a:tcPr marL="57467" marR="57467" marT="32067" marB="32067" anchor="t" anchorCtr="0"/>
                </a:tc>
              </a:tr>
            </a:tbl>
          </a:graphicData>
        </a:graphic>
      </p:graphicFrame>
      <p:sp>
        <p:nvSpPr>
          <p:cNvPr id="31" name="section-2.1">
            <a:extLst xmlns:a="http://schemas.openxmlformats.org/drawingml/2006/main">
              <a:ext uri="{FF2B5EF4-FFF2-40B4-BE49-F238E27FC236}">
                <a16:creationId xmlns:a16="http://schemas.microsoft.com/office/drawing/2014/main" id="{1827BD55-70BC-4E27-B7C0-4AB6EF5C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2.1 主要工作：两个点柄承担起点和终点的选择与拖拽</a:t>
            </a:r>
          </a:p>
        </p:txBody>
      </p:sp>
      <p:sp>
        <p:nvSpPr>
          <p:cNvPr id="32" name="body">
            <a:extLst xmlns:a="http://schemas.openxmlformats.org/drawingml/2006/main">
              <a:ext uri="{FF2B5EF4-FFF2-40B4-BE49-F238E27FC236}">
                <a16:creationId xmlns:a16="http://schemas.microsoft.com/office/drawing/2014/main" id="{DEB4ACA5-62D6-4E4E-ABDD-19A70C48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起点、终点使用球形 actor 表示，鼠标按下先判断是否命中点柄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拖拽时把屏幕位移投影到视图平面，再结合点捕捉器求新的三维坐标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拖拽过程中实时刷新矢量预览、对话框参数和参考覆盖层尺寸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点选完成后立即同步 overlay 相机并 Render，解决高亮延迟一拍的问题</a:t>
            </a:r>
          </a:p>
        </p:txBody>
      </p:sp>
      <p:sp>
        <p:nvSpPr>
          <p:cNvPr id="33" name="code-box">
            <a:extLst xmlns:a="http://schemas.openxmlformats.org/drawingml/2006/main">
              <a:ext uri="{FF2B5EF4-FFF2-40B4-BE49-F238E27FC236}">
                <a16:creationId xmlns:a16="http://schemas.microsoft.com/office/drawing/2014/main" id="{33E37700-D22D-4659-8BC3-FAFB9F42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10000"/>
            <a:ext cx="800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C9D3E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handleVectorTwoPointHandleMouseDown(x, y)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handleVectorTwoPointHandleMouseMove(x, y)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handleVectorTwoPointHandleMouseUp(x, 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showSelectedPoint(point)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refreshPointSelectionOverlay()</a:t>
            </a:r>
          </a:p>
        </p:txBody>
      </p:sp>
    </p:spTree>
    <p:extLst>
      <p:ext uri="{BB962C8B-B14F-4D97-AF65-F5344CB8AC3E}">
        <p14:creationId xmlns:p14="http://schemas.microsoft.com/office/powerpoint/2010/main" val="1333764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65f7afc2c4cce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8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7b1763bfc4f29">
            <a:extLst>
              <a:ext uri="{96DAC541-7B7A-43D3-8B79-37D633B846F1}">
                <asvg:svgBlip xmlns:asvg="http://schemas.microsoft.com/office/drawing/2016/SVG/main" r:embed="R8e3abadfb2bf4f6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9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a7e434d5f46c3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6261500-D1B0-489F-B6FB-9FFDA72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09B8059-7445-4E29-A699-93461E11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03 两点确定矢量：选中与反向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3.1">
            <a:extLst xmlns:a="http://schemas.openxmlformats.org/drawingml/2006/main">
              <a:ext uri="{FF2B5EF4-FFF2-40B4-BE49-F238E27FC236}">
                <a16:creationId xmlns:a16="http://schemas.microsoft.com/office/drawing/2014/main" id="{F39EDDBF-3AB2-4516-979D-184CFD1A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3.1 主要工作：点柄可选中，矢量箭头支持双击反向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BC8B9065-F650-4E9D-B74C-7F196776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选中：通过 picker 判断 start/end 点柄，进入拖拽或确认状态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候选点：边附近只显示端点、中点候选，未进入激活半径时不落点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反向：双击矢量箭头后交换起点和终点，当前矢量方向同步翻转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同步：反向后刷新 dialog、预览 actor 和已选点反馈，避免状态分裂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31E45C-9F85-4859-8340-E537C08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B"/>
          </a:solidFill>
          <a:ln xmlns:a="http://schemas.openxmlformats.org/drawingml/2006/main" w="9525">
            <a:solidFill>
              <a:srgbClr val="B7C6E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点柄命中</a:t>
            </a:r>
          </a:p>
        </p:txBody>
      </p:sp>
      <p:sp>
        <p:nvSpPr>
          <p:cNvPr id="32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8A16F27D-A8D3-4612-998A-B3CE017E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477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6C39F-8CD8-45D3-9698-70D4A7DF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B"/>
          </a:solidFill>
          <a:ln xmlns:a="http://schemas.openxmlformats.org/drawingml/2006/main" w="9525">
            <a:solidFill>
              <a:srgbClr val="B7C6E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拖拽更新</a:t>
            </a:r>
          </a:p>
        </p:txBody>
      </p:sp>
      <p:sp>
        <p:nvSpPr>
          <p:cNvPr id="34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DFC7B680-C943-4490-A623-B19A9BB5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477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7BEE11-CDEF-44A6-93A2-4AACE134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166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B"/>
          </a:solidFill>
          <a:ln xmlns:a="http://schemas.openxmlformats.org/drawingml/2006/main" w="9525">
            <a:solidFill>
              <a:srgbClr val="B7C6E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参数同步</a:t>
            </a:r>
          </a:p>
        </p:txBody>
      </p:sp>
      <p:sp>
        <p:nvSpPr>
          <p:cNvPr id="36" name="code-box">
            <a:extLst xmlns:a="http://schemas.openxmlformats.org/drawingml/2006/main">
              <a:ext uri="{FF2B5EF4-FFF2-40B4-BE49-F238E27FC236}">
                <a16:creationId xmlns:a16="http://schemas.microsoft.com/office/drawing/2014/main" id="{3AD0700B-9873-471E-8150-7965743D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C9D3E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handleVectorTwoPointArrowDoubleClick(x, y)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reverseVectorTwoPointDirection()</a:t>
            </a:r>
          </a:p>
        </p:txBody>
      </p:sp>
    </p:spTree>
    <p:extLst>
      <p:ext uri="{BB962C8B-B14F-4D97-AF65-F5344CB8AC3E}">
        <p14:creationId xmlns:p14="http://schemas.microsoft.com/office/powerpoint/2010/main" val="1941366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cb46312e843de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0039354194741">
            <a:extLst>
              <a:ext uri="{96DAC541-7B7A-43D3-8B79-37D633B846F1}">
                <asvg:svgBlip xmlns:asvg="http://schemas.microsoft.com/office/drawing/2016/SVG/main" r:embed="R890f771cef6247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54f66fd6a4fb1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3AE038D-5066-468E-98FD-D39DD16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F73D5AF-211B-4C9E-9274-CB6FD6A8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04 其他矢量确定方式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4.1">
            <a:extLst xmlns:a="http://schemas.openxmlformats.org/drawingml/2006/main">
              <a:ext uri="{FF2B5EF4-FFF2-40B4-BE49-F238E27FC236}">
                <a16:creationId xmlns:a16="http://schemas.microsoft.com/office/drawing/2014/main" id="{60F4489D-FAC6-40A5-AFF3-478C58AC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4.1 主要工作：把不同矢量来源纳入同一种反向语义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AEEFF175-D715-4D0E-8155-95A95CB3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曲线上矢量：点柄沿曲线移动，矢量取该点的切线方向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面和平面法向量：箭头代表当前法向，双击后方向翻转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轴矢量：从基准轴或模型轴获得方向，复用箭头反向入口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反向只改变方向符号，不改变点、边、面等几何来源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428750" y="3733800"/>
          <a:ext xmlns:a="http://schemas.openxmlformats.org/drawingml/2006/main" cx="9334500" cy="2000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4000500"/>
                <a:gridCol w="3238500"/>
              </a:tblGrid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矢量来源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操作柄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反向方式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两点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起点球、终点球、方向箭头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双击方向箭头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曲线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曲线点柄、方向箭头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沿切线取向后翻转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面/平面/轴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方向箭头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复用同一反向状态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6980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59f57f4c5449f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01fc6502a4107">
            <a:extLst>
              <a:ext uri="{96DAC541-7B7A-43D3-8B79-37D633B846F1}">
                <asvg:svgBlip xmlns:asvg="http://schemas.microsoft.com/office/drawing/2016/SVG/main" r:embed="R9865e4db76a24b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e5c6c4a414360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EC36291-DD03-48FE-82F1-9D66E4D8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42C7776-D187-4D1C-A122-F5A6FF0B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05 矢量工具整理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5.1">
            <a:extLst xmlns:a="http://schemas.openxmlformats.org/drawingml/2006/main">
              <a:ext uri="{FF2B5EF4-FFF2-40B4-BE49-F238E27FC236}">
                <a16:creationId xmlns:a16="http://schemas.microsoft.com/office/drawing/2014/main" id="{F3F244CA-621A-4F2A-A551-30407CBA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5.1 主要工作：矢量工具从主窗口逻辑中单独抽出管理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A965079C-8871-4E26-8689-D96175A7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主窗口只负责接收交互结果和触发刷新，工具细节下沉到 tools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捕捉、高亮、拖拽和双击反向分别有清晰入口，后续维护更容易定位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1143000" y="2857500"/>
          <a:ext xmlns:a="http://schemas.openxmlformats.org/drawingml/2006/main" cx="99060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375"/>
                <a:gridCol w="4000500"/>
                <a:gridCol w="2905125"/>
              </a:tblGrid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当前责任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汇报重点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</a:tr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src/interaction/tools/vector_snap.cpp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点捕捉、候选点预览、点选反馈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解决选中后高亮延迟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src/interaction/tools/vector_handles.cpp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两点矢量点柄、箭头手柄、拖拽和双击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完成可操作手柄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src/interaction/handles/handle_spec.*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手柄规则、形状、状态描述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保留规则声明层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143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src/viewport/main_view/*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鼠标事件转发和 overlay 刷新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统一交互入口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7606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259534aee41f8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8eaa2f5ae4147">
            <a:extLst>
              <a:ext uri="{96DAC541-7B7A-43D3-8B79-37D633B846F1}">
                <asvg:svgBlip xmlns:asvg="http://schemas.microsoft.com/office/drawing/2016/SVG/main" r:embed="R8deb662d8a0d4f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935cbe5ee4411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DD7D145-366C-47BA-9207-C4C4DF4A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E06DA93-53F8-498D-A968-1132AC26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06 渲染问题：自动显示管线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6.1">
            <a:extLst xmlns:a="http://schemas.openxmlformats.org/drawingml/2006/main">
              <a:ext uri="{FF2B5EF4-FFF2-40B4-BE49-F238E27FC236}">
                <a16:creationId xmlns:a16="http://schemas.microsoft.com/office/drawing/2014/main" id="{60F75D77-3B3D-489D-89FF-21A97F4E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6.1 总工作：从手动构建转为 IVtk 自动构建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0ACC9189-DBA2-427D-9D14-91AC5CC4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旧链路：显示、预览、高亮和镜像各处都可能手动构建 Mesh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问题：球与圆柱、圆锥交界处容易出现锯齿状突出角，调参也容易反复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新链路：所有显示入口先创建 ShapeDataSource，再由显示管线生成 VTK 数据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④ 结果：业务层不再直接调用 BRepMesh_IncrementalMesh，质量策略集中到渲染层</a:t>
            </a:r>
          </a:p>
        </p:txBody>
      </p:sp>
      <p:sp>
        <p:nvSpPr>
          <p:cNvPr id="31" name="code-box">
            <a:extLst xmlns:a="http://schemas.openxmlformats.org/drawingml/2006/main">
              <a:ext uri="{FF2B5EF4-FFF2-40B4-BE49-F238E27FC236}">
                <a16:creationId xmlns:a16="http://schemas.microsoft.com/office/drawing/2014/main" id="{5F84877A-3546-4789-8949-5A8ABE6F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95750"/>
            <a:ext cx="723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C9D3E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TopoDS_Shape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IVtkOCC_Shape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ModelShapePipeline::createShapeDataSource()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ModelShapePipeline::copyShapeDataSourceOutput()</a:t>
            </a:r>
          </a:p>
          <a:p xmlns:a="http://schemas.openxmlformats.org/drawingml/2006/main">
            <a:pPr>
              <a:defRPr sz="1350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26344D"/>
                </a:solidFill>
                <a:latin typeface="Arial"/>
                <a:ea typeface="Arial"/>
                <a:cs typeface="Arial"/>
              </a:rPr>
              <a:t>Mapper / Actor / Render</a:t>
            </a:r>
          </a:p>
        </p:txBody>
      </p:sp>
    </p:spTree>
    <p:extLst>
      <p:ext uri="{BB962C8B-B14F-4D97-AF65-F5344CB8AC3E}">
        <p14:creationId xmlns:p14="http://schemas.microsoft.com/office/powerpoint/2010/main" val="1252551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a353137c34f63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3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e2edee4ad4ea8">
            <a:extLst>
              <a:ext uri="{96DAC541-7B7A-43D3-8B79-37D633B846F1}">
                <asvg:svgBlip xmlns:asvg="http://schemas.microsoft.com/office/drawing/2016/SVG/main" r:embed="R0c65c6cdd4094a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b8f95bfbe482d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1733F92-2529-4D10-B7CA-F810974F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1A94C60-2317-49EC-9258-8B031849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07 BRepMesh_IncrementalMesh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7.1">
            <a:extLst xmlns:a="http://schemas.openxmlformats.org/drawingml/2006/main">
              <a:ext uri="{FF2B5EF4-FFF2-40B4-BE49-F238E27FC236}">
                <a16:creationId xmlns:a16="http://schemas.microsoft.com/office/drawing/2014/main" id="{FECC0199-E5DC-488D-99D1-C9D06DA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7.1 是什么：OCCT 用于把 B-Rep 形状离散成三角网格的工具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1104900" y="1676400"/>
          <a:ext xmlns:a="http://schemas.openxmlformats.org/drawingml/2006/main" cx="1000125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7620000"/>
              </a:tblGrid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</a:t>
                      </a:r>
                    </a:p>
                  </a:txBody>
                  <a:tcPr marL="91440" marR="91440" marT="45720" marB="45720">
                    <a:solidFill>
                      <a:srgbClr val="5B8FDC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控制什么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线性偏差、角度偏差、相对偏差模式以及是否并行构建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为什么之前会关注它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球、圆柱、圆锥等曲面靠三角化显示，偏差会影响交界处观感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为什么现在业务层不需要它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项目显示入口统一走 IVtk/OCCT 显示数据源，业务逻辑不再散落 Mesh 调用</a:t>
                      </a:r>
                    </a:p>
                  </a:txBody>
                  <a:tcPr marL="91440" marR="91440" marT="45720" marB="45720">
                    <a:solidFill>
                      <a:srgbClr val="D9E4F6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仍要注意什么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TKMesh 仍是 OCCT/IVtk 的模块依赖，不能因为源码无显式调用就删除链接</a:t>
                      </a:r>
                    </a:p>
                  </a:txBody>
                  <a:tcPr marL="91440" marR="91440" marT="45720" marB="45720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31" name="code-box">
            <a:extLst xmlns:a="http://schemas.openxmlformats.org/drawingml/2006/main">
              <a:ext uri="{FF2B5EF4-FFF2-40B4-BE49-F238E27FC236}">
                <a16:creationId xmlns:a16="http://schemas.microsoft.com/office/drawing/2014/main" id="{9626D1BC-F0B7-486E-BFE0-B55AFD4F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29200"/>
            <a:ext cx="657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C9D3E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44D"/>
                </a:solidFill>
                <a:latin typeface="Arial"/>
                <a:ea typeface="Arial"/>
                <a:cs typeface="Arial"/>
              </a:rPr>
              <a:t>BRepMesh_IncrementalMesh(shape, linDeflection,</a:t>
            </a:r>
          </a:p>
          <a:p xmlns:a="http://schemas.openxmlformats.org/drawingml/2006/main">
            <a:pPr>
              <a:defRPr sz="1275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44D"/>
                </a:solidFill>
                <a:latin typeface="Arial"/>
                <a:ea typeface="Arial"/>
                <a:cs typeface="Arial"/>
              </a:rPr>
              <a:t>                         isRelative, angDeflection,</a:t>
            </a:r>
          </a:p>
          <a:p xmlns:a="http://schemas.openxmlformats.org/drawingml/2006/main">
            <a:pPr>
              <a:defRPr sz="1275">
                <a:solidFill>
                  <a:srgbClr val="26344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6344D"/>
                </a:solidFill>
                <a:latin typeface="Arial"/>
                <a:ea typeface="Arial"/>
                <a:cs typeface="Arial"/>
              </a:rPr>
              <a:t>                         isInParallel)</a:t>
            </a:r>
          </a:p>
        </p:txBody>
      </p:sp>
    </p:spTree>
    <p:extLst>
      <p:ext uri="{BB962C8B-B14F-4D97-AF65-F5344CB8AC3E}">
        <p14:creationId xmlns:p14="http://schemas.microsoft.com/office/powerpoint/2010/main" val="695298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56d06bf68d4eec">
            <a:alphaModFix amt="8000"/>
            <a:grayscl/>
          </a:blip>
          <a:srcRect xmlns:a="http://schemas.openxmlformats.org/drawingml/2006/main" l="0" t="9099" r="0" b="8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39700" y="220345"/>
            <a:ext cx="11912600" cy="6529705"/>
          </a:xfrm>
          <a:prstGeom xmlns:a="http://schemas.openxmlformats.org/drawingml/2006/main" prst="rect">
            <a:avLst/>
          </a:prstGeom>
        </p:spPr>
      </p:pic>
      <p:pic>
        <p:nvPicPr>
          <p:cNvPr id="34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885700c06476d">
            <a:extLst>
              <a:ext uri="{96DAC541-7B7A-43D3-8B79-37D633B846F1}">
                <asvg:svgBlip xmlns:asvg="http://schemas.microsoft.com/office/drawing/2016/SVG/main" r:embed="R557c660be26b4b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5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1dfcfa3544a68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6284595" y="5345430"/>
            <a:ext cx="5601970" cy="1170305"/>
          </a:xfrm>
          <a:prstGeom xmlns:a="http://schemas.openxmlformats.org/drawingml/2006/main" prst="rect">
            <a:avLst/>
          </a:prstGeom>
        </p:spPr>
      </p:pic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FD69D10-9A64-48B8-8A1E-15260454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" y="6397625"/>
            <a:ext cx="11906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27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5B9F9CC-B298-44D6-ADCA-D925094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438150"/>
            <a:ext cx="508635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 typeface="+mj-ea"/>
              <a:buNone/>
              <a:def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08 问题处理与下周计划</a:t>
            </a:r>
            <a:endParaRPr sz="280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section-8.1">
            <a:extLst xmlns:a="http://schemas.openxmlformats.org/drawingml/2006/main">
              <a:ext uri="{FF2B5EF4-FFF2-40B4-BE49-F238E27FC236}">
                <a16:creationId xmlns:a16="http://schemas.microsoft.com/office/drawing/2014/main" id="{F0D6A671-EACB-430A-B1C2-57478926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66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8.1 遇到的问题：显示质量、刷新时机和二进制依赖交织在一起</a:t>
            </a:r>
          </a:p>
        </p:txBody>
      </p:sp>
      <p:sp>
        <p:nvSpPr>
          <p:cNvPr id="30" name="body">
            <a:extLst xmlns:a="http://schemas.openxmlformats.org/drawingml/2006/main">
              <a:ext uri="{FF2B5EF4-FFF2-40B4-BE49-F238E27FC236}">
                <a16:creationId xmlns:a16="http://schemas.microsoft.com/office/drawing/2014/main" id="{F1B527B8-A872-4BDB-B7BF-7C36C916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点选反馈延迟：选中点后 actor 已创建，但 overlay 相机和屏幕缩放没有立即同步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交界处锯齿：显示边界暴露曲面离散误差，球与圆柱、圆锥组合更明显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构建依赖：曾出现 Release 程序加载 Debug VTK 的情况，需要保持 TKIVtk 与 VTK 版本一致</a:t>
            </a:r>
          </a:p>
        </p:txBody>
      </p:sp>
      <p:sp>
        <p:nvSpPr>
          <p:cNvPr id="31" name="section-8.2">
            <a:extLst xmlns:a="http://schemas.openxmlformats.org/drawingml/2006/main">
              <a:ext uri="{FF2B5EF4-FFF2-40B4-BE49-F238E27FC236}">
                <a16:creationId xmlns:a16="http://schemas.microsoft.com/office/drawing/2014/main" id="{E6BCE67F-64F1-4F43-8131-6196C3EE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A77C8"/>
                </a:solidFill>
                <a:latin typeface="微软雅黑"/>
                <a:ea typeface="微软雅黑"/>
                <a:cs typeface="微软雅黑"/>
              </a:rPr>
              <a:t>8.2 下周计划：围绕测试文档继续收敛交互稳定性</a:t>
            </a:r>
          </a:p>
        </p:txBody>
      </p:sp>
      <p:sp>
        <p:nvSpPr>
          <p:cNvPr id="32" name="body">
            <a:extLst xmlns:a="http://schemas.openxmlformats.org/drawingml/2006/main">
              <a:ext uri="{FF2B5EF4-FFF2-40B4-BE49-F238E27FC236}">
                <a16:creationId xmlns:a16="http://schemas.microsoft.com/office/drawing/2014/main" id="{1EFB1939-AFFC-400B-B6C0-E941808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62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① 回归测试两点矢量、曲线矢量、面法向和轴矢量的反向逻辑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② 检查预览、确认、撤销恢复、保存读取后的矢量状态是否一致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③ 继续减少主窗口中的交互细节，让工具层和渲染层边界更清楚</a:t>
            </a:r>
          </a:p>
        </p:txBody>
      </p:sp>
    </p:spTree>
    <p:extLst>
      <p:ext uri="{BB962C8B-B14F-4D97-AF65-F5344CB8AC3E}">
        <p14:creationId xmlns:p14="http://schemas.microsoft.com/office/powerpoint/2010/main" val="20134065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f35dc4304456c">
            <a:extLst>
              <a:ext uri="{96DAC541-7B7A-43D3-8B79-37D633B846F1}">
                <asvg:svgBlip xmlns:asvg="http://schemas.microsoft.com/office/drawing/2016/SVG/main" r:embed="R3673705f21f743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d2d8227de48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9245" y="3634105"/>
            <a:ext cx="11574145" cy="2417445"/>
          </a:xfrm>
          <a:prstGeom xmlns:a="http://schemas.openxmlformats.org/drawingml/2006/main" prst="rect">
            <a:avLst/>
          </a:prstGeom>
        </p:spPr>
      </p:pic>
      <p:pic>
        <p:nvPicPr>
          <p:cNvPr id="18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ed1a116564de9">
            <a:extLst>
              <a:ext uri="{96DAC541-7B7A-43D3-8B79-37D633B846F1}">
                <asvg:svgBlip xmlns:asvg="http://schemas.microsoft.com/office/drawing/2016/SVG/main" r:embed="Rca0e34abd2d74147"/>
              </a:ext>
            </a:extLst>
          </a:blip>
          <a:srcRect xmlns:a="http://schemas.openxmlformats.org/drawingml/2006/main" l="0" t="27763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05435" y="5687695"/>
            <a:ext cx="11581130" cy="867410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7E8393-F316-4F0B-A96F-99D8FA22D7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070917" y="2025333"/>
            <a:ext cx="8050165" cy="10591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0">
                <a:solidFill>
                  <a:srgbClr val="2F477F"/>
                </a:solidFill>
                <a:latin typeface="华文新魏"/>
                <a:ea typeface="华文新魏"/>
                <a:cs typeface="华文新魏"/>
              </a:defRPr>
            </a:pPr>
            <a:r>
              <a:rPr sz="3750" b="0">
                <a:solidFill>
                  <a:srgbClr val="2F477F"/>
                </a:solidFill>
                <a:latin typeface="华文新魏"/>
                <a:ea typeface="华文新魏"/>
                <a:cs typeface="华文新魏"/>
              </a:rPr>
              <a:t>周汇报</a:t>
            </a:r>
            <a:endParaRPr sz="7200" b="0"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  <p:sp>
        <p:nvSpPr>
          <p:cNvPr id="12" name="标题 1">
            <a:extLst xmlns:a="http://schemas.openxmlformats.org/drawingml/2006/main">
              <a:ext uri="{FF2B5EF4-FFF2-40B4-BE49-F238E27FC236}">
                <a16:creationId xmlns:a16="http://schemas.microsoft.com/office/drawing/2014/main" id="{E8139410-CC57-4CDE-A0D3-BF028A81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258" y="3422015"/>
            <a:ext cx="6319484" cy="441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b"/>
          <a:lstStyle xmlns:a="http://schemas.openxmlformats.org/drawingml/2006/main">
            <a:lvl1pPr algn="ctr" defTabSz="914400">
              <a:lnSpc>
                <a:spcPct val="100000"/>
              </a:lnSpc>
              <a:spcBef>
                <a:spcPct val="0"/>
              </a:spcBef>
              <a:buNone/>
              <a:defRPr sz="6000" b="1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500" b="0">
                <a:solidFill>
                  <a:srgbClr val="2F477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 i="0" u="none" cap="none" spc="300">
                <a:ln>
                  <a:noFill/>
                </a:ln>
                <a:solidFill>
                  <a:srgbClr val="2F477F"/>
                </a:solidFill>
                <a:latin typeface="微软雅黑"/>
                <a:ea typeface="微软雅黑"/>
                <a:cs typeface="微软雅黑"/>
              </a:rPr>
              <a:t>✪汇报人：陈景煌</a:t>
            </a:r>
            <a:endParaRPr sz="1800" b="0" i="0" u="none" kern="1200" cap="none" spc="300" baseline="0">
              <a:ln>
                <a:noFill/>
              </a:ln>
              <a:solidFill>
                <a:srgbClr val="324274"/>
              </a:solidFill>
              <a:latin typeface="华文新魏"/>
              <a:ea typeface="华文新魏"/>
              <a:cs typeface="华文新魏"/>
            </a:endParaRPr>
          </a:p>
        </p:txBody>
      </p:sp>
    </p:spTree>
    <p:extLst>
      <p:ext uri="{BB962C8B-B14F-4D97-AF65-F5344CB8AC3E}">
        <p14:creationId xmlns:p14="http://schemas.microsoft.com/office/powerpoint/2010/main" val="975196630"/>
      </p:ext>
    </p:extLst>
  </p:cSld>
</p:sld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2026-09-13T09:41:32.1120000Z</dcterms:created>
  <dcterms:modified xsi:type="dcterms:W3CDTF">2026-09-13T09:41:32.1120000Z</dcterms:modified>
</coreProperties>
</file>