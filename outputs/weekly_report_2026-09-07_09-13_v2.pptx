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fbed5ba27345c3" /><Relationship Type="http://schemas.openxmlformats.org/officeDocument/2006/relationships/extended-properties" Target="/docProps/app.xml" Id="R8147188b7264493c" /><Relationship Type="http://schemas.openxmlformats.org/officeDocument/2006/relationships/officeDocument" Target="/ppt/presentation.xml" Id="R71e38849a9a442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5d756b86344a5e"/>
    <p:sldMasterId xmlns:r="http://schemas.openxmlformats.org/officeDocument/2006/relationships" id="2147483652" r:id="R6a49c98f3e384add"/>
  </p:sldMasterIdLst>
  <p:notesMasterIdLst>
    <p:notesMasterId xmlns:r="http://schemas.openxmlformats.org/officeDocument/2006/relationships" r:id="R8e8ed1ba32a54f04"/>
  </p:notesMasterIdLst>
  <p:sldIdLst>
    <p:sldId xmlns:r="http://schemas.openxmlformats.org/officeDocument/2006/relationships" id="256" r:id="R63f9af1e2ac545f5"/>
    <p:sldId xmlns:r="http://schemas.openxmlformats.org/officeDocument/2006/relationships" id="257" r:id="Rb8b724a7d3324c44"/>
    <p:sldId xmlns:r="http://schemas.openxmlformats.org/officeDocument/2006/relationships" id="258" r:id="R358723a14e39442a"/>
    <p:sldId xmlns:r="http://schemas.openxmlformats.org/officeDocument/2006/relationships" id="259" r:id="R28fee764fa7643f6"/>
    <p:sldId xmlns:r="http://schemas.openxmlformats.org/officeDocument/2006/relationships" id="260" r:id="R4dec27db0c5f4d0e"/>
    <p:sldId xmlns:r="http://schemas.openxmlformats.org/officeDocument/2006/relationships" id="261" r:id="R4e42ed04cc414bdb"/>
    <p:sldId xmlns:r="http://schemas.openxmlformats.org/officeDocument/2006/relationships" id="262" r:id="Raced0860fb034144"/>
    <p:sldId xmlns:r="http://schemas.openxmlformats.org/officeDocument/2006/relationships" id="263" r:id="Rb4a7fec277214bc6"/>
    <p:sldId xmlns:r="http://schemas.openxmlformats.org/officeDocument/2006/relationships" id="264" r:id="Rd482bc2705e848a8"/>
    <p:sldId xmlns:r="http://schemas.openxmlformats.org/officeDocument/2006/relationships" id="265" r:id="Rf467f5c104634a28"/>
    <p:sldId xmlns:r="http://schemas.openxmlformats.org/officeDocument/2006/relationships" id="266" r:id="R55508a4c0837417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cdc0e62fae46ce" /><Relationship Type="http://schemas.openxmlformats.org/officeDocument/2006/relationships/slideMaster" Target="/ppt/slideMasters/slideMaster1.xml" Id="R2d5d756b86344a5e" /><Relationship Type="http://schemas.openxmlformats.org/officeDocument/2006/relationships/slideMaster" Target="/ppt/slideMasters/slideMaster2.xml" Id="R6a49c98f3e384add" /><Relationship Type="http://schemas.openxmlformats.org/officeDocument/2006/relationships/notesMaster" Target="/ppt/notesMasters/notesMaster1.xml" Id="R8e8ed1ba32a54f04" /><Relationship Type="http://schemas.openxmlformats.org/officeDocument/2006/relationships/presProps" Target="/ppt/presProps.xml" Id="Rd229eafb00dc4b1c" /><Relationship Type="http://schemas.openxmlformats.org/officeDocument/2006/relationships/viewProps" Target="/ppt/viewProps.xml" Id="R086f07fea5234493" /><Relationship Type="http://schemas.openxmlformats.org/officeDocument/2006/relationships/tableStyles" Target="/ppt/tableStyles.xml" Id="R0b6863ed72194c61" /><Relationship Type="http://schemas.openxmlformats.org/officeDocument/2006/relationships/slide" Target="/ppt/slides/slide1.xml" Id="R63f9af1e2ac545f5" /><Relationship Type="http://schemas.openxmlformats.org/officeDocument/2006/relationships/slide" Target="/ppt/slides/slide2.xml" Id="Rb8b724a7d3324c44" /><Relationship Type="http://schemas.openxmlformats.org/officeDocument/2006/relationships/slide" Target="/ppt/slides/slide3.xml" Id="R358723a14e39442a" /><Relationship Type="http://schemas.openxmlformats.org/officeDocument/2006/relationships/slide" Target="/ppt/slides/slide4.xml" Id="R28fee764fa7643f6" /><Relationship Type="http://schemas.openxmlformats.org/officeDocument/2006/relationships/slide" Target="/ppt/slides/slide5.xml" Id="R4dec27db0c5f4d0e" /><Relationship Type="http://schemas.openxmlformats.org/officeDocument/2006/relationships/slide" Target="/ppt/slides/slide6.xml" Id="R4e42ed04cc414bdb" /><Relationship Type="http://schemas.openxmlformats.org/officeDocument/2006/relationships/slide" Target="/ppt/slides/slide7.xml" Id="Raced0860fb034144" /><Relationship Type="http://schemas.openxmlformats.org/officeDocument/2006/relationships/slide" Target="/ppt/slides/slide8.xml" Id="Rb4a7fec277214bc6" /><Relationship Type="http://schemas.openxmlformats.org/officeDocument/2006/relationships/slide" Target="/ppt/slides/slide9.xml" Id="Rd482bc2705e848a8" /><Relationship Type="http://schemas.openxmlformats.org/officeDocument/2006/relationships/slide" Target="/ppt/slides/slide10.xml" Id="Rf467f5c104634a28" /><Relationship Type="http://schemas.openxmlformats.org/officeDocument/2006/relationships/slide" Target="/ppt/slides/slide11.xml" Id="R55508a4c083741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386b824ff5ad42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第一PPT，www.1ppt.com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新版空白演示配色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c068883c0441ca" /><Relationship Type="http://schemas.openxmlformats.org/officeDocument/2006/relationships/notesMaster" Target="/ppt/notesMasters/notesMaster1.xml" Id="R785a64ea0d104e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97ddc7a5974739" /><Relationship Type="http://schemas.openxmlformats.org/officeDocument/2006/relationships/notesMaster" Target="/ppt/notesMasters/notesMaster1.xml" Id="R4a3acc7ec5b145e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0ecd90695a40de" /><Relationship Type="http://schemas.openxmlformats.org/officeDocument/2006/relationships/notesMaster" Target="/ppt/notesMasters/notesMaster1.xml" Id="Rf5756f7582c3483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12326a6e4dc4f80" /><Relationship Type="http://schemas.openxmlformats.org/officeDocument/2006/relationships/notesMaster" Target="/ppt/notesMasters/notesMaster1.xml" Id="Rc190af26545b4a1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8cdf325b04b4e63" /><Relationship Type="http://schemas.openxmlformats.org/officeDocument/2006/relationships/notesMaster" Target="/ppt/notesMasters/notesMaster1.xml" Id="R6c01241eadb74f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9473d7f89424b03" /><Relationship Type="http://schemas.openxmlformats.org/officeDocument/2006/relationships/notesMaster" Target="/ppt/notesMasters/notesMaster1.xml" Id="Re7327be11b2d4d2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f9ba22006dd4dd0" /><Relationship Type="http://schemas.openxmlformats.org/officeDocument/2006/relationships/notesMaster" Target="/ppt/notesMasters/notesMaster1.xml" Id="Rbd7840b0893b47b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b28b4914ff146a0" /><Relationship Type="http://schemas.openxmlformats.org/officeDocument/2006/relationships/notesMaster" Target="/ppt/notesMasters/notesMaster1.xml" Id="R87823b0e85ea4bf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a70607a2fc04147" /><Relationship Type="http://schemas.openxmlformats.org/officeDocument/2006/relationships/notesMaster" Target="/ppt/notesMasters/notesMaster1.xml" Id="Rb11f43aebe2645d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753e4abb46941aa" /><Relationship Type="http://schemas.openxmlformats.org/officeDocument/2006/relationships/notesMaster" Target="/ppt/notesMasters/notesMaster1.xml" Id="R4eb8b9584638410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383670393b04817" /><Relationship Type="http://schemas.openxmlformats.org/officeDocument/2006/relationships/notesMaster" Target="/ppt/notesMasters/notesMaster1.xml" Id="Re70c7a0a2e8947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依据：C:\Users\陈景煌\Desktop\9.7-9.13.txt；git show --stat 80c2250；git show --stat de28007。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依据：src\interaction\tools\vector_handles.cpp；src\interaction\tools\vector_snap.cpp；src\viewport\main_view\main_viewport.cpp。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依据：src\interaction\tools\vector_handles.cpp；src\presentation\main_window\main_window_events.cpp；src\viewport\main_view\mouse_interactor.cpp。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依据：C:\Users\陈景煌\Desktop\9.7-9.13.txt；src\presentation\dialogs\tools\vector_dialog.cpp；src\presentation\dialogs\coordinates\datum_axis.cpp。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依据：rg --files；Practice_Modeling.vcxproj 中 vector_snap.cpp 和 vector_handles.cpp 的编译项；80c2250 提交统计。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依据：src\rendering\pipeline\model_shape_pipeline.cpp；src\rendering\model\shape_presentation_factory.cpp；de28007 提交统计。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依据：D:\OCCT7.7.0\Install\inc\BRepMesh_IncrementalMesh.hxx；src 中对 BRepMesh_IncrementalMesh 的全局搜索；de28007 最终说明。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依据：C:\Users\陈景煌\Desktop\9.7-9.13.txt；过往任务记录中关于点选高亮、球/圆柱交界锯齿、TKIVtk 与 VTK 依赖排查的说明。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7e1f64e30e417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f76767789f4d8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043059343f493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bf95ae733554036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0AA51C8-5B61-4617-BED2-8F6A59226B6C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198800" y="914400"/>
            <a:ext cx="9799200" cy="2570400"/>
          </a:xfrm>
        </p:spPr>
        <p:txBody>
          <a:bodyPr xmlns:a="http://schemas.openxmlformats.org/drawingml/2006/main" lIns="90000" tIns="46800" rIns="90000" bIns="46800" anchor="b">
            <a:normAutofit/>
          </a:bodyPr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单击此处编辑标题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178EF644-F5C2-4DB7-823C-7AED94486C0F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198800" y="3560400"/>
            <a:ext cx="9799200" cy="1472400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单击此处编辑副标题</a:t>
            </a:r>
            <a:endParaRPr/>
          </a:p>
        </p:txBody>
      </p:sp>
      <p:sp>
        <p:nvSpPr>
          <p:cNvPr id="16" name="日期占位符 15">
            <a:extLst xmlns:a="http://schemas.openxmlformats.org/drawingml/2006/main">
              <a:ext uri="{FF2B5EF4-FFF2-40B4-BE49-F238E27FC236}">
                <a16:creationId xmlns:a16="http://schemas.microsoft.com/office/drawing/2014/main" id="{1F879628-607F-44D2-A11A-968BFDB2597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页脚占位符 16">
            <a:extLst xmlns:a="http://schemas.openxmlformats.org/drawingml/2006/main">
              <a:ext uri="{FF2B5EF4-FFF2-40B4-BE49-F238E27FC236}">
                <a16:creationId xmlns:a16="http://schemas.microsoft.com/office/drawing/2014/main" id="{C0D8AA16-5BB8-4298-861D-AF2AA1920B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灯片编号占位符 17">
            <a:extLst xmlns:a="http://schemas.openxmlformats.org/drawingml/2006/main">
              <a:ext uri="{FF2B5EF4-FFF2-40B4-BE49-F238E27FC236}">
                <a16:creationId xmlns:a16="http://schemas.microsoft.com/office/drawing/2014/main" id="{756DF414-F247-4DBB-919A-363B6BA673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  <p:hf sldNum="0" ftr="0" dt="0"/>
</p:sldLayout>
</file>

<file path=ppt/slideLayouts/slideLayout2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C1DDC23E-2D57-4049-97B1-C67758C4E095}"/>
              </a:ext>
            </a:extLst>
          </p:cNvPr>
          <p:cNvSpPr>
            <a:spLocks xmlns:a="http://schemas.openxmlformats.org/drawingml/2006/main" noGrp="1"/>
          </p:cNvSpPr>
          <p:nvPr>
            <p:ph type="dt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25ADCC95-5994-4451-B127-0B6BCB3B8F65}"/>
              </a:ext>
            </a:extLst>
          </p:cNvPr>
          <p:cNvSpPr>
            <a:spLocks xmlns:a="http://schemas.openxmlformats.org/drawingml/2006/main" noGrp="1"/>
          </p:cNvSpPr>
          <p:nvPr>
            <p:ph type="ftr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29B0712A-A093-4C81-8749-A68A0C7CB22D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D65218F-C2FC-4AA8-A825-0B29F159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5031" y="3367444"/>
            <a:ext cx="453650" cy="13720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200000"/>
              </a:lnSpc>
              <a:buNone/>
            </a:pPr>
            <a:r>
              <a:rPr sz="100">
                <a:solidFill>
                  <a:schemeClr val="tx1">
                    <a:alpha val="0"/>
                  </a:schemeClr>
                </a:solidFill>
                <a:latin typeface="微软雅黑"/>
                <a:ea typeface="微软雅黑"/>
                <a:cs typeface="微软雅黑"/>
              </a:rPr>
              <a:t>行业</a:t>
            </a:r>
            <a:r>
              <a:rPr sz="100">
                <a:solidFill>
                  <a:schemeClr val="tx1">
                    <a:alpha val="0"/>
                  </a:schemeClr>
                </a:solidFill>
                <a:latin typeface="微软雅黑"/>
                <a:ea typeface="微软雅黑"/>
                <a:cs typeface="微软雅黑"/>
              </a:rPr>
              <a:t>PPT</a:t>
            </a:r>
            <a:r>
              <a:rPr sz="100">
                <a:solidFill>
                  <a:schemeClr val="tx1">
                    <a:alpha val="0"/>
                  </a:schemeClr>
                </a:solidFill>
                <a:latin typeface="微软雅黑"/>
                <a:ea typeface="微软雅黑"/>
                <a:cs typeface="微软雅黑"/>
              </a:rPr>
              <a:t>模板</a:t>
            </a:r>
            <a:r>
              <a:rPr sz="100">
                <a:solidFill>
                  <a:schemeClr val="tx1">
                    <a:alpha val="0"/>
                  </a:schemeClr>
                </a:solidFill>
                <a:latin typeface="微软雅黑"/>
                <a:ea typeface="微软雅黑"/>
                <a:cs typeface="微软雅黑"/>
              </a:rPr>
              <a:t>http://www.1ppt.com/hangye/</a:t>
            </a:r>
            <a:endParaRPr sz="100">
              <a:solidFill>
                <a:schemeClr val="tx1">
                  <a:alpha val="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8">
            <a:extLst xmlns:a="http://schemas.openxmlformats.org/drawingml/2006/main">
              <a:ext uri="{FF2B5EF4-FFF2-40B4-BE49-F238E27FC236}">
                <a16:creationId xmlns:a16="http://schemas.microsoft.com/office/drawing/2014/main" id="{27CF8A43-0FBF-48DB-A398-AA4CA118C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9627" y="2215277"/>
            <a:ext cx="540060" cy="13720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200000"/>
              </a:lnSpc>
              <a:buNone/>
            </a:pPr>
            <a:r>
              <a:rPr sz="100">
                <a:solidFill>
                  <a:schemeClr val="tx1">
                    <a:alpha val="0"/>
                  </a:schemeClr>
                </a:solidFill>
                <a:latin typeface="微软雅黑"/>
                <a:ea typeface="微软雅黑"/>
                <a:cs typeface="微软雅黑"/>
              </a:rPr>
              <a:t>行业</a:t>
            </a:r>
            <a:r>
              <a:rPr sz="100">
                <a:solidFill>
                  <a:schemeClr val="tx1">
                    <a:alpha val="0"/>
                  </a:schemeClr>
                </a:solidFill>
                <a:latin typeface="微软雅黑"/>
                <a:ea typeface="微软雅黑"/>
                <a:cs typeface="微软雅黑"/>
              </a:rPr>
              <a:t>PPT</a:t>
            </a:r>
            <a:r>
              <a:rPr sz="100">
                <a:solidFill>
                  <a:schemeClr val="tx1">
                    <a:alpha val="0"/>
                  </a:schemeClr>
                </a:solidFill>
                <a:latin typeface="微软雅黑"/>
                <a:ea typeface="微软雅黑"/>
                <a:cs typeface="微软雅黑"/>
              </a:rPr>
              <a:t>模板</a:t>
            </a:r>
            <a:r>
              <a:rPr sz="100">
                <a:solidFill>
                  <a:schemeClr val="tx1">
                    <a:alpha val="0"/>
                  </a:schemeClr>
                </a:solidFill>
                <a:latin typeface="微软雅黑"/>
                <a:ea typeface="微软雅黑"/>
                <a:cs typeface="微软雅黑"/>
              </a:rPr>
              <a:t>http://www.1ppt.com/hangye/</a:t>
            </a:r>
            <a:endParaRPr sz="100">
              <a:solidFill>
                <a:schemeClr val="tx1">
                  <a:alpha val="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标题 1">
            <a:extLst xmlns:a="http://schemas.openxmlformats.org/drawingml/2006/main">
              <a:ext uri="{FF2B5EF4-FFF2-40B4-BE49-F238E27FC236}">
                <a16:creationId xmlns:a16="http://schemas.microsoft.com/office/drawing/2014/main" id="{763F2188-D6EE-46DB-8AD3-50F80664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marL="0" marR="0" indent="0" algn="l" defTabSz="91440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4400" b="0" i="0" u="none" kern="1200" cap="none" spc="0" baseline="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marR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800" b="0" i="0" u="none" kern="1200" cap="none" spc="0" baseline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marR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800" b="0" i="0" u="none" kern="1200" cap="none" spc="0" baseline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marR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800" b="0" i="0" u="none" kern="1200" cap="none" spc="0" baseline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marR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800" b="0" i="0" u="none" kern="1200" cap="none" spc="0" baseline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marR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800" b="0" i="0" u="none" kern="1200" cap="none" spc="0" baseline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marR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800" b="0" i="0" u="none" kern="1200" cap="none" spc="0" baseline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marR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800" b="0" i="0" u="none" kern="1200" cap="none" spc="0" baseline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  <a:lvl9pPr marL="0" marR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800" b="0" i="0" u="none" kern="1200" cap="none" spc="0" baseline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8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39447034-A4D2-471C-A47E-496B65FCE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681163"/>
            <a:ext cx="5157787" cy="823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txBody>
          <a:bodyPr xmlns:a="http://schemas.openxmlformats.org/drawingml/2006/main" vert="horz" lIns="91440" tIns="45720" rIns="91440" bIns="45720" anchor="b"/>
          <a:lstStyle xmlns:a="http://schemas.openxmlformats.org/drawingml/2006/main"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/>
              <a:buNone/>
              <a:defRPr sz="2400" b="1" i="0" u="none" kern="1200" cap="none" spc="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marR="0" indent="0" algn="l" defTabSz="9144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/>
              <a:buNone/>
              <a:defRPr sz="2000" b="1" i="0" u="none" kern="1200" cap="none" spc="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marR="0" indent="0" algn="l" defTabSz="9144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/>
              <a:buNone/>
              <a:defRPr sz="1800" b="1" i="0" u="none" kern="1200" cap="none" spc="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marR="0" indent="0" algn="l" defTabSz="9144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/>
              <a:buNone/>
              <a:defRPr sz="1600" b="1" i="0" u="none" kern="1200" cap="none" spc="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marR="0" indent="0" algn="l" defTabSz="9144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/>
              <a:buNone/>
              <a:defRPr sz="1600" b="1" i="0" u="none" kern="1200" cap="none" spc="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marR="0" indent="0" algn="l" defTabSz="9144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/>
              <a:buNone/>
              <a:defRPr sz="1600" b="1" i="0" u="none" kern="1200" cap="none" spc="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marR="0" indent="0" algn="l" defTabSz="9144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/>
              <a:buNone/>
              <a:defRPr sz="1600" b="1" i="0" u="none" kern="1200" cap="none" spc="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marR="0" indent="0" algn="l" defTabSz="9144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/>
              <a:buNone/>
              <a:defRPr sz="1600" b="1" i="0" u="none" kern="1200" cap="none" spc="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marR="0" indent="0" algn="l" defTabSz="9144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/>
              <a:buNone/>
              <a:defRPr sz="1600" b="1" i="0" u="none" kern="1200" cap="none" spc="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9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EDE06B95-83EA-4C49-8E43-4B5488B6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505075"/>
            <a:ext cx="5157787" cy="3684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txBody>
          <a:bodyPr xmlns:a="http://schemas.openxmlformats.org/drawingml/2006/main" vert="horz" lIns="91440" tIns="45720" rIns="91440" bIns="45720"/>
          <a:lstStyle xmlns:a="http://schemas.openxmlformats.org/drawingml/2006/main">
            <a:lvl1pPr marL="228600" marR="0" indent="-228600" algn="l" defTabSz="91440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/>
              <a:buChar char="•"/>
              <a:defRPr sz="2800" b="0" i="0" u="none" kern="1200" cap="none" spc="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marR="0" indent="-228600" algn="l" defTabSz="9144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/>
              <a:buChar char="•"/>
              <a:defRPr sz="2400" b="0" i="0" u="none" kern="1200" cap="none" spc="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marR="0" indent="-228600" algn="l" defTabSz="9144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/>
              <a:buChar char="•"/>
              <a:defRPr sz="2000" b="0" i="0" u="none" kern="1200" cap="none" spc="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marR="0" indent="-228600" algn="l" defTabSz="9144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/>
              <a:buChar char="•"/>
              <a:defRPr sz="1800" b="0" i="0" u="none" kern="1200" cap="none" spc="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marR="0" indent="-228600" algn="l" defTabSz="9144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/>
              <a:buChar char="•"/>
              <a:defRPr sz="1800" b="0" i="0" u="none" kern="1200" cap="none" spc="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marR="0" indent="-228600" algn="l" defTabSz="9144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/>
              <a:buChar char="•"/>
              <a:defRPr sz="1800" b="0" i="0" u="none" kern="1200" cap="none" spc="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marR="0" indent="-228600" algn="l" defTabSz="9144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/>
              <a:buChar char="•"/>
              <a:defRPr sz="1800" b="0" i="0" u="none" kern="1200" cap="none" spc="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marR="0" indent="-228600" algn="l" defTabSz="9144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/>
              <a:buChar char="•"/>
              <a:defRPr sz="1800" b="0" i="0" u="none" kern="1200" cap="none" spc="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marR="0" indent="-228600" algn="l" defTabSz="9144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/>
              <a:buChar char="•"/>
              <a:defRPr sz="1800" b="0" i="0" u="none" kern="1200" cap="none" spc="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10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390C2F19-D325-457D-AF84-54530572407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11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E3F79CBC-D380-430A-9DAD-1AE9749E09EA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12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47320A25-B005-414C-8197-FB31EBF604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F5CE751A-DA57-4067-9884-3910DCA04AF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  <p:hf sldNum="0" ftr="0" dt="0"/>
</p:sldLayout>
</file>

<file path=ppt/slideLayouts/slideLayout3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452EB2A-A1D0-4F03-A722-ACF5DAB6FB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173468A1-9B89-4778-9DB9-968CB773ADC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8400" y="1490400"/>
            <a:ext cx="10969200" cy="47592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6A335C7-D7AA-4680-9E3F-DC687873791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8FD2820-AA64-4F52-8F46-63A9E583B30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AE739BB-79B2-4FCF-AE1E-5CEF0CD9C15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  <p:hf sldNum="0" ftr="0" dt="0"/>
</p:sldLayout>
</file>

<file path=ppt/slideLayouts/slideLayout4.xml><?xml version="1.0" encoding="utf-8"?>
<p:sldLayout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1be8b64a934eb7" /><Relationship Type="http://schemas.openxmlformats.org/officeDocument/2006/relationships/slideLayout" Target="/ppt/slideLayouts/slideLayout1.xml" Id="Rb9bee121778248e3" /><Relationship Type="http://schemas.openxmlformats.org/officeDocument/2006/relationships/slideLayout" Target="/ppt/slideLayouts/slideLayout2.xml" Id="R3eb54137dcde4ad3" /><Relationship Type="http://schemas.openxmlformats.org/officeDocument/2006/relationships/slideLayout" Target="/ppt/slideLayouts/slideLayout3.xml" Id="R7a71c8730ed44caf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ed311f4c37704ce5" /><Relationship Type="http://schemas.openxmlformats.org/officeDocument/2006/relationships/slideLayout" Target="/ppt/slideLayouts/slideLayout4.xml" Id="R7156956c582c43e3" /></Relationships>
</file>

<file path=ppt/slideMasters/slideMaster1.xml><?xml version="1.0" encoding="utf-8"?>
<p:sldMaster xmlns:p="http://schemas.openxmlformats.org/presentationml/2006/main">
  <p:cSld>
    <p:bg>
      <p:bgRef idx="1003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FE18E854-F50F-4525-8BC4-F474A67063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170" tIns="46990" rIns="90170" bIns="4699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1A8F34D-DE57-470E-A5FF-5B013F0B6B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8400" y="1490400"/>
            <a:ext cx="10969200" cy="475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1A3B7D0-CEEC-43D1-A0D6-3464DE8C61A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120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C8D0C61-EA63-4A54-AA9E-0C4892DC5CB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D9623A8-7AD1-4C81-9C67-04CB24BEA91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8776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bee121778248e3"/>
    <p:sldLayoutId xmlns:r="http://schemas.openxmlformats.org/officeDocument/2006/relationships" id="2147483650" r:id="R3eb54137dcde4ad3"/>
    <p:sldLayoutId xmlns:r="http://schemas.openxmlformats.org/officeDocument/2006/relationships" id="2147483651" r:id="R7a71c8730ed44caf"/>
  </p:sldLayoutIdLst>
  <p:hf sldNum="0" ftr="0" dt="0"/>
  <p:txStyles>
    <p:titleStyle>
      <a:lvl1pPr xmlns:a="http://schemas.openxmlformats.org/drawingml/2006/main" algn="l" defTabSz="914400">
        <a:lnSpc>
          <a:spcPct val="100000"/>
        </a:lnSpc>
        <a:spcBef>
          <a:spcPct val="0"/>
        </a:spcBef>
        <a:buNone/>
        <a:defRPr sz="3600" b="1" u="none" kern="1200" cap="none" spc="300" baseline="0">
          <a:solidFill>
            <a:schemeClr val="tx1">
              <a:lumMod val="85000"/>
              <a:lumOff val="15000"/>
            </a:schemeClr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130000"/>
        </a:lnSpc>
        <a:spcBef>
          <a:spcPct val="0"/>
        </a:spcBef>
        <a:spcAft>
          <a:spcPts val="1000"/>
        </a:spcAft>
        <a:buFont typeface="Arial"/>
        <a:buChar char="●"/>
        <a:defRPr sz="18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120000"/>
        </a:lnSpc>
        <a:spcBef>
          <a:spcPct val="0"/>
        </a:spcBef>
        <a:spcAft>
          <a:spcPts val="600"/>
        </a:spcAft>
        <a:buFont typeface="Arial"/>
        <a:buChar char="●"/>
        <a:tabLst>
          <a:tab pos="1609725" algn="l"/>
        </a:tabLst>
        <a:defRPr sz="16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120000"/>
        </a:lnSpc>
        <a:spcBef>
          <a:spcPct val="0"/>
        </a:spcBef>
        <a:spcAft>
          <a:spcPts val="600"/>
        </a:spcAft>
        <a:buFont typeface="Arial"/>
        <a:buChar char="●"/>
        <a:defRPr sz="16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120000"/>
        </a:lnSpc>
        <a:spcBef>
          <a:spcPct val="0"/>
        </a:spcBef>
        <a:spcAft>
          <a:spcPts val="300"/>
        </a:spcAft>
        <a:buFont typeface="Wingdings"/>
        <a:buChar char=""/>
        <a:defRPr sz="14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120000"/>
        </a:lnSpc>
        <a:spcBef>
          <a:spcPct val="0"/>
        </a:spcBef>
        <a:spcAft>
          <a:spcPts val="300"/>
        </a:spcAft>
        <a:buFont typeface="Arial"/>
        <a:buChar char="•"/>
        <a:defRPr sz="14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3" r:id="R7156956c582c43e3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第一PPT，www.1ppt.com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新版空白演示配色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第一PPT，www.1ppt.com 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bfc09e509345c0" /><Relationship Type="http://schemas.openxmlformats.org/officeDocument/2006/relationships/image" Target="/ppt/media/image.png" Id="R658fe713f9b34719" /><Relationship Type="http://schemas.openxmlformats.org/officeDocument/2006/relationships/image" Target="/ppt/media/image.svg" Id="R2a25a536f95e4e04" /><Relationship Type="http://schemas.openxmlformats.org/officeDocument/2006/relationships/image" Target="/ppt/media/image2.png" Id="R2cc55df2c36c4ffc" /><Relationship Type="http://schemas.openxmlformats.org/officeDocument/2006/relationships/image" Target="/ppt/media/image3.png" Id="Re2e58d1e57944c1d" /><Relationship Type="http://schemas.openxmlformats.org/officeDocument/2006/relationships/image" Target="/ppt/media/image2.svg" Id="R1184a53fe7e0447f" /><Relationship Type="http://schemas.openxmlformats.org/officeDocument/2006/relationships/notesSlide" Target="/ppt/notesSlides/notesSlide1.xml" Id="R9327561e07aa42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22882a5e61d4d64" /><Relationship Type="http://schemas.openxmlformats.org/officeDocument/2006/relationships/image" Target="/ppt/media/image.png" Id="Rf60052e0fa6a44fb" /><Relationship Type="http://schemas.openxmlformats.org/officeDocument/2006/relationships/image" Target="/ppt/media/image.svg" Id="Rad51590dfa094962" /><Relationship Type="http://schemas.openxmlformats.org/officeDocument/2006/relationships/image" Target="/ppt/media/image4.png" Id="R80be039ee6504182" /><Relationship Type="http://schemas.openxmlformats.org/officeDocument/2006/relationships/notesSlide" Target="/ppt/notesSlides/notesSlide2.xml" Id="R2200dde3d7b540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f30794e0231432e" /><Relationship Type="http://schemas.openxmlformats.org/officeDocument/2006/relationships/image" Target="/ppt/media/image.jpeg" Id="R36c2c1c0c9e64e85" /><Relationship Type="http://schemas.openxmlformats.org/officeDocument/2006/relationships/image" Target="/ppt/media/image5.png" Id="Rc97be20f6fe841ce" /><Relationship Type="http://schemas.openxmlformats.org/officeDocument/2006/relationships/image" Target="/ppt/media/image3.svg" Id="Rfd5146fc1e2f4b7d" /><Relationship Type="http://schemas.openxmlformats.org/officeDocument/2006/relationships/image" Target="/ppt/media/image4.png" Id="Rfff4f040ea844c5b" /><Relationship Type="http://schemas.openxmlformats.org/officeDocument/2006/relationships/notesSlide" Target="/ppt/notesSlides/notesSlide3.xml" Id="R1ae8d34a0a27472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dfd83ac85b147de" /><Relationship Type="http://schemas.openxmlformats.org/officeDocument/2006/relationships/image" Target="/ppt/media/image.jpeg" Id="R4a78c7bd63ba485d" /><Relationship Type="http://schemas.openxmlformats.org/officeDocument/2006/relationships/image" Target="/ppt/media/image5.png" Id="R8abc1b2c81e24736" /><Relationship Type="http://schemas.openxmlformats.org/officeDocument/2006/relationships/image" Target="/ppt/media/image3.svg" Id="Rb414615884484710" /><Relationship Type="http://schemas.openxmlformats.org/officeDocument/2006/relationships/image" Target="/ppt/media/image4.png" Id="R2621633c1b8147e7" /><Relationship Type="http://schemas.openxmlformats.org/officeDocument/2006/relationships/notesSlide" Target="/ppt/notesSlides/notesSlide4.xml" Id="R135246c075314d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549633fd87e406c" /><Relationship Type="http://schemas.openxmlformats.org/officeDocument/2006/relationships/image" Target="/ppt/media/image.jpeg" Id="Rd487fd09d3454d23" /><Relationship Type="http://schemas.openxmlformats.org/officeDocument/2006/relationships/image" Target="/ppt/media/image6.png" Id="Re86c112f1039408d" /><Relationship Type="http://schemas.openxmlformats.org/officeDocument/2006/relationships/image" Target="/ppt/media/image4.svg" Id="Rf571dfa412a34141" /><Relationship Type="http://schemas.openxmlformats.org/officeDocument/2006/relationships/image" Target="/ppt/media/image4.png" Id="Ree28452e3ebe4634" /><Relationship Type="http://schemas.openxmlformats.org/officeDocument/2006/relationships/notesSlide" Target="/ppt/notesSlides/notesSlide5.xml" Id="R4cc90c2c586d47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19c4fb5db88433c" /><Relationship Type="http://schemas.openxmlformats.org/officeDocument/2006/relationships/image" Target="/ppt/media/image.jpeg" Id="R65fffe7df2bf42c8" /><Relationship Type="http://schemas.openxmlformats.org/officeDocument/2006/relationships/image" Target="/ppt/media/image7.png" Id="R10d3d085cc994817" /><Relationship Type="http://schemas.openxmlformats.org/officeDocument/2006/relationships/image" Target="/ppt/media/image5.svg" Id="R8883f16052cd4d64" /><Relationship Type="http://schemas.openxmlformats.org/officeDocument/2006/relationships/image" Target="/ppt/media/image4.png" Id="R3bdd6b14bb6b4de9" /><Relationship Type="http://schemas.openxmlformats.org/officeDocument/2006/relationships/notesSlide" Target="/ppt/notesSlides/notesSlide6.xml" Id="Ra75f0db518f14fa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ad20c7da7144306" /><Relationship Type="http://schemas.openxmlformats.org/officeDocument/2006/relationships/image" Target="/ppt/media/image.jpeg" Id="Ra50fa090545c4e97" /><Relationship Type="http://schemas.openxmlformats.org/officeDocument/2006/relationships/image" Target="/ppt/media/image8.png" Id="R7a8bd95b4b314f36" /><Relationship Type="http://schemas.openxmlformats.org/officeDocument/2006/relationships/image" Target="/ppt/media/image6.svg" Id="Rd44e019e58d54446" /><Relationship Type="http://schemas.openxmlformats.org/officeDocument/2006/relationships/image" Target="/ppt/media/image4.png" Id="R79d0bfc33dc44cf7" /><Relationship Type="http://schemas.openxmlformats.org/officeDocument/2006/relationships/notesSlide" Target="/ppt/notesSlides/notesSlide7.xml" Id="R568b95dbbcf34e6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8a24b04322247fe" /><Relationship Type="http://schemas.openxmlformats.org/officeDocument/2006/relationships/image" Target="/ppt/media/image.jpeg" Id="Rc48ac34f4eee47e7" /><Relationship Type="http://schemas.openxmlformats.org/officeDocument/2006/relationships/image" Target="/ppt/media/image9.png" Id="R97c11064f57441f1" /><Relationship Type="http://schemas.openxmlformats.org/officeDocument/2006/relationships/image" Target="/ppt/media/image7.svg" Id="R2d514b168ba345ea" /><Relationship Type="http://schemas.openxmlformats.org/officeDocument/2006/relationships/image" Target="/ppt/media/image4.png" Id="R802064d017ec4313" /><Relationship Type="http://schemas.openxmlformats.org/officeDocument/2006/relationships/notesSlide" Target="/ppt/notesSlides/notesSlide8.xml" Id="Ra34cef36be8a4f5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9c8e4261d2d46fd" /><Relationship Type="http://schemas.openxmlformats.org/officeDocument/2006/relationships/image" Target="/ppt/media/image.jpeg" Id="R4e4bef8b7a28465c" /><Relationship Type="http://schemas.openxmlformats.org/officeDocument/2006/relationships/image" Target="/ppt/media/image10.png" Id="Rb21b175195a64ca9" /><Relationship Type="http://schemas.openxmlformats.org/officeDocument/2006/relationships/image" Target="/ppt/media/image8.svg" Id="Rcd4f0f2edc0848b4" /><Relationship Type="http://schemas.openxmlformats.org/officeDocument/2006/relationships/image" Target="/ppt/media/image4.png" Id="R84d22a5dc0364e5e" /><Relationship Type="http://schemas.openxmlformats.org/officeDocument/2006/relationships/notesSlide" Target="/ppt/notesSlides/notesSlide9.xml" Id="R8c8e6178583e4ee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1380919d1e74c8e" /><Relationship Type="http://schemas.openxmlformats.org/officeDocument/2006/relationships/image" Target="/ppt/media/image.jpeg" Id="R8f2ebb22db6640c4" /><Relationship Type="http://schemas.openxmlformats.org/officeDocument/2006/relationships/image" Target="/ppt/media/image11.png" Id="R4be555870cf143c1" /><Relationship Type="http://schemas.openxmlformats.org/officeDocument/2006/relationships/image" Target="/ppt/media/image9.svg" Id="Rdce209bf27724c75" /><Relationship Type="http://schemas.openxmlformats.org/officeDocument/2006/relationships/image" Target="/ppt/media/image4.png" Id="R257404bcf4584dfc" /><Relationship Type="http://schemas.openxmlformats.org/officeDocument/2006/relationships/notesSlide" Target="/ppt/notesSlides/notesSlide10.xml" Id="Rc6b3285d9e8e49f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f885476b1c40eb" /><Relationship Type="http://schemas.openxmlformats.org/officeDocument/2006/relationships/image" Target="/ppt/media/image.png" Id="R761c7e8a9ae04988" /><Relationship Type="http://schemas.openxmlformats.org/officeDocument/2006/relationships/image" Target="/ppt/media/image.svg" Id="R5e733411735140a2" /><Relationship Type="http://schemas.openxmlformats.org/officeDocument/2006/relationships/image" Target="/ppt/media/image2.png" Id="Rbaeba7f281f348b8" /><Relationship Type="http://schemas.openxmlformats.org/officeDocument/2006/relationships/image" Target="/ppt/media/image3.png" Id="R626148c65d42432a" /><Relationship Type="http://schemas.openxmlformats.org/officeDocument/2006/relationships/image" Target="/ppt/media/image2.svg" Id="R5c9e0154c2584da4" /><Relationship Type="http://schemas.openxmlformats.org/officeDocument/2006/relationships/notesSlide" Target="/ppt/notesSlides/notesSlide11.xml" Id="R79fb2dc026264a7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图片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8fe713f9b34719">
            <a:extLst>
              <a:ext uri="{96DAC541-7B7A-43D3-8B79-37D633B846F1}">
                <asvg:svgBlip xmlns:asvg="http://schemas.microsoft.com/office/drawing/2016/SVG/main" r:embed="R2a25a536f95e4e0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7" name="图片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c55df2c36c4f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309245" y="3634105"/>
            <a:ext cx="11574145" cy="2417445"/>
          </a:xfrm>
          <a:prstGeom xmlns:a="http://schemas.openxmlformats.org/drawingml/2006/main" prst="rect">
            <a:avLst/>
          </a:prstGeom>
        </p:spPr>
      </p:pic>
      <p:pic>
        <p:nvPicPr>
          <p:cNvPr id="18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e58d1e57944c1d">
            <a:extLst>
              <a:ext uri="{96DAC541-7B7A-43D3-8B79-37D633B846F1}">
                <asvg:svgBlip xmlns:asvg="http://schemas.microsoft.com/office/drawing/2016/SVG/main" r:embed="R1184a53fe7e0447f"/>
              </a:ext>
            </a:extLst>
          </a:blip>
          <a:srcRect xmlns:a="http://schemas.openxmlformats.org/drawingml/2006/main" l="0" t="27763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305435" y="5687695"/>
            <a:ext cx="11581130" cy="867410"/>
          </a:xfrm>
          <a:prstGeom xmlns:a="http://schemas.openxmlformats.org/drawingml/2006/main" prst="rect">
            <a:avLst/>
          </a:prstGeom>
        </p:spPr>
      </p:pic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C9A7112-3BF3-4F2D-8574-243D7469F34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0" y="1961537"/>
            <a:ext cx="12191999" cy="105918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750" b="0">
                <a:solidFill>
                  <a:srgbClr val="2F477F"/>
                </a:solidFill>
                <a:latin typeface="华文新魏"/>
                <a:ea typeface="华文新魏"/>
                <a:cs typeface="华文新魏"/>
              </a:defRPr>
            </a:pPr>
            <a:r>
              <a:rPr sz="3750" b="0">
                <a:solidFill>
                  <a:srgbClr val="2F477F"/>
                </a:solidFill>
                <a:latin typeface="华文新魏"/>
                <a:ea typeface="华文新魏"/>
                <a:cs typeface="华文新魏"/>
              </a:rPr>
              <a:t>周汇报</a:t>
            </a:r>
            <a:endParaRPr sz="7200" b="0">
              <a:solidFill>
                <a:srgbClr val="324274"/>
              </a:solidFill>
              <a:latin typeface="华文新魏"/>
              <a:ea typeface="华文新魏"/>
              <a:cs typeface="华文新魏"/>
            </a:endParaRPr>
          </a:p>
        </p:txBody>
      </p:sp>
      <p:sp>
        <p:nvSpPr>
          <p:cNvPr id="12" name="标题 1">
            <a:extLst xmlns:a="http://schemas.openxmlformats.org/drawingml/2006/main">
              <a:ext uri="{FF2B5EF4-FFF2-40B4-BE49-F238E27FC236}">
                <a16:creationId xmlns:a16="http://schemas.microsoft.com/office/drawing/2014/main" id="{CE9C7659-DE9E-40F0-B488-88087781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6575" y="3538973"/>
            <a:ext cx="6319484" cy="441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000" tIns="46800" rIns="90000" bIns="46800" anchor="b"/>
          <a:lstStyle xmlns:a="http://schemas.openxmlformats.org/drawingml/2006/main">
            <a:lvl1pPr algn="ctr" defTabSz="914400">
              <a:lnSpc>
                <a:spcPct val="100000"/>
              </a:lnSpc>
              <a:spcBef>
                <a:spcPct val="0"/>
              </a:spcBef>
              <a:buNone/>
              <a:defRPr sz="6000" b="1" u="none" kern="1200" cap="none" spc="3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buNone/>
              <a:defRPr sz="1425" b="0">
                <a:solidFill>
                  <a:srgbClr val="2F477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2F477F"/>
                </a:solidFill>
                <a:latin typeface="微软雅黑"/>
                <a:ea typeface="微软雅黑"/>
                <a:cs typeface="微软雅黑"/>
              </a:rPr>
              <a:t>✪汇报人：陈景煌    2026.9.7-9.13</a:t>
            </a:r>
            <a:endParaRPr sz="1800" b="0">
              <a:solidFill>
                <a:srgbClr val="324274"/>
              </a:solidFill>
              <a:latin typeface="华文新魏"/>
              <a:ea typeface="华文新魏"/>
              <a:cs typeface="华文新魏"/>
            </a:endParaRPr>
          </a:p>
        </p:txBody>
      </p:sp>
    </p:spTree>
    <p:extLst>
      <p:ext uri="{BB962C8B-B14F-4D97-AF65-F5344CB8AC3E}">
        <p14:creationId xmlns:p14="http://schemas.microsoft.com/office/powerpoint/2010/main" val="80285883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6" name="图片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0052e0fa6a44fb">
            <a:extLst>
              <a:ext uri="{96DAC541-7B7A-43D3-8B79-37D633B846F1}">
                <asvg:svgBlip xmlns:asvg="http://schemas.microsoft.com/office/drawing/2016/SVG/main" r:embed="Rad51590dfa09496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7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be039ee65041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6284595" y="5345430"/>
            <a:ext cx="5601970" cy="1170305"/>
          </a:xfrm>
          <a:prstGeom xmlns:a="http://schemas.openxmlformats.org/drawingml/2006/main" prst="rect">
            <a:avLst/>
          </a:prstGeom>
        </p:spPr>
      </p:pic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3CEBE025-663C-40A9-B3F2-B134FA1C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065" y="6397625"/>
            <a:ext cx="119062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27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MH_Number_1">
            <a:extLst xmlns:a="http://schemas.openxmlformats.org/drawingml/2006/main">
              <a:ext uri="{FF2B5EF4-FFF2-40B4-BE49-F238E27FC236}">
                <a16:creationId xmlns:a16="http://schemas.microsoft.com/office/drawing/2014/main" id="{D65AAD67-EAE5-40DE-88D8-BE22E505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4648" y="2689225"/>
            <a:ext cx="379730" cy="3797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4274"/>
          </a:solidFill>
          <a:ln xmlns:a="http://schemas.openxmlformats.org/drawingml/2006/main" w="28575">
            <a:solidFill>
              <a:schemeClr val="bg1"/>
            </a:solidFill>
          </a:ln>
          <a:effectLst xmlns:a="http://schemas.openxmlformats.org/drawingml/2006/main">
            <a:outerShdw blurRad="203200" dist="1143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10" b="1">
                <a:solidFill>
                  <a:schemeClr val="bg1"/>
                </a:solidFill>
                <a:latin typeface="华文新魏"/>
                <a:ea typeface="华文新魏"/>
                <a:cs typeface="华文新魏"/>
              </a:rPr>
              <a:t>1</a:t>
            </a:r>
            <a:endParaRPr sz="2110" b="1">
              <a:solidFill>
                <a:schemeClr val="bg1"/>
              </a:solidFill>
              <a:latin typeface="华文新魏"/>
              <a:ea typeface="华文新魏"/>
              <a:cs typeface="华文新魏"/>
            </a:endParaRPr>
          </a:p>
        </p:txBody>
      </p:sp>
      <p:sp>
        <p:nvSpPr>
          <p:cNvPr id="14" name="MH_Entry_1">
            <a:extLst xmlns:a="http://schemas.openxmlformats.org/drawingml/2006/main">
              <a:ext uri="{FF2B5EF4-FFF2-40B4-BE49-F238E27FC236}">
                <a16:creationId xmlns:a16="http://schemas.microsoft.com/office/drawing/2014/main" id="{8D88911E-9D9A-4845-B1E5-B4EB9D14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15853" y="2667000"/>
            <a:ext cx="3041650" cy="430530"/>
          </a:xfrm>
          <a:custGeom xmlns:a="http://schemas.openxmlformats.org/drawingml/2006/main"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175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F477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F477F"/>
                </a:solidFill>
                <a:latin typeface="微软雅黑"/>
                <a:ea typeface="微软雅黑"/>
                <a:cs typeface="微软雅黑"/>
              </a:rPr>
              <a:t>手柄功能</a:t>
            </a:r>
            <a:endParaRPr sz="2800">
              <a:solidFill>
                <a:srgbClr val="324274"/>
              </a:solidFill>
              <a:latin typeface="华文新魏"/>
              <a:ea typeface="华文新魏"/>
              <a:cs typeface="华文新魏"/>
            </a:endParaRPr>
          </a:p>
        </p:txBody>
      </p:sp>
      <p:sp>
        <p:nvSpPr>
          <p:cNvPr id="24" name="MH_Number_2">
            <a:extLst xmlns:a="http://schemas.openxmlformats.org/drawingml/2006/main">
              <a:ext uri="{FF2B5EF4-FFF2-40B4-BE49-F238E27FC236}">
                <a16:creationId xmlns:a16="http://schemas.microsoft.com/office/drawing/2014/main" id="{5DE7F355-2C3E-4EA2-858F-9C5EABBE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4648" y="3304540"/>
            <a:ext cx="379730" cy="3797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4274"/>
          </a:solidFill>
          <a:ln xmlns:a="http://schemas.openxmlformats.org/drawingml/2006/main" w="28575">
            <a:solidFill>
              <a:schemeClr val="bg1"/>
            </a:solidFill>
          </a:ln>
          <a:effectLst xmlns:a="http://schemas.openxmlformats.org/drawingml/2006/main">
            <a:outerShdw blurRad="203200" dist="1143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10" b="1">
                <a:solidFill>
                  <a:schemeClr val="bg1"/>
                </a:solidFill>
                <a:latin typeface="华文新魏"/>
                <a:ea typeface="华文新魏"/>
                <a:cs typeface="华文新魏"/>
              </a:rPr>
              <a:t>2</a:t>
            </a:r>
            <a:endParaRPr sz="2110" b="1">
              <a:solidFill>
                <a:schemeClr val="bg1"/>
              </a:solidFill>
              <a:latin typeface="华文新魏"/>
              <a:ea typeface="华文新魏"/>
              <a:cs typeface="华文新魏"/>
            </a:endParaRPr>
          </a:p>
        </p:txBody>
      </p:sp>
      <p:sp>
        <p:nvSpPr>
          <p:cNvPr id="27" name="MH_Entry_2">
            <a:extLst xmlns:a="http://schemas.openxmlformats.org/drawingml/2006/main">
              <a:ext uri="{FF2B5EF4-FFF2-40B4-BE49-F238E27FC236}">
                <a16:creationId xmlns:a16="http://schemas.microsoft.com/office/drawing/2014/main" id="{20F874BD-CF50-44AD-BC45-91F327315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15853" y="3328670"/>
            <a:ext cx="5125085" cy="430530"/>
          </a:xfrm>
          <a:custGeom xmlns:a="http://schemas.openxmlformats.org/drawingml/2006/main"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175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lvl="0">
              <a:buNone/>
              <a:defRPr sz="1800" b="0">
                <a:solidFill>
                  <a:srgbClr val="2F477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F477F"/>
                </a:solidFill>
                <a:latin typeface="微软雅黑"/>
                <a:ea typeface="微软雅黑"/>
                <a:cs typeface="微软雅黑"/>
              </a:rPr>
              <a:t>矢量工具整理</a:t>
            </a:r>
            <a:endParaRPr sz="2800">
              <a:solidFill>
                <a:srgbClr val="324274"/>
              </a:solidFill>
              <a:latin typeface="华文新魏"/>
              <a:ea typeface="华文新魏"/>
              <a:cs typeface="华文新魏"/>
            </a:endParaRPr>
          </a:p>
        </p:txBody>
      </p:sp>
      <p:sp>
        <p:nvSpPr>
          <p:cNvPr id="28" name="MH_Number_3">
            <a:extLst xmlns:a="http://schemas.openxmlformats.org/drawingml/2006/main">
              <a:ext uri="{FF2B5EF4-FFF2-40B4-BE49-F238E27FC236}">
                <a16:creationId xmlns:a16="http://schemas.microsoft.com/office/drawing/2014/main" id="{2B35F605-A831-4598-824D-28170FF2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4648" y="3919855"/>
            <a:ext cx="379730" cy="3797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4274"/>
          </a:solidFill>
          <a:ln xmlns:a="http://schemas.openxmlformats.org/drawingml/2006/main" w="28575">
            <a:solidFill>
              <a:schemeClr val="bg1"/>
            </a:solidFill>
          </a:ln>
          <a:effectLst xmlns:a="http://schemas.openxmlformats.org/drawingml/2006/main">
            <a:outerShdw blurRad="203200" dist="1143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10" b="1">
                <a:solidFill>
                  <a:schemeClr val="bg1"/>
                </a:solidFill>
                <a:latin typeface="华文新魏"/>
                <a:ea typeface="华文新魏"/>
                <a:cs typeface="华文新魏"/>
              </a:rPr>
              <a:t>3</a:t>
            </a:r>
            <a:endParaRPr sz="2110" b="1">
              <a:solidFill>
                <a:schemeClr val="bg1"/>
              </a:solidFill>
              <a:latin typeface="华文新魏"/>
              <a:ea typeface="华文新魏"/>
              <a:cs typeface="华文新魏"/>
            </a:endParaRPr>
          </a:p>
        </p:txBody>
      </p:sp>
      <p:sp>
        <p:nvSpPr>
          <p:cNvPr id="29" name="MH_Entry_3">
            <a:extLst xmlns:a="http://schemas.openxmlformats.org/drawingml/2006/main">
              <a:ext uri="{FF2B5EF4-FFF2-40B4-BE49-F238E27FC236}">
                <a16:creationId xmlns:a16="http://schemas.microsoft.com/office/drawing/2014/main" id="{3E88201F-0E20-4ED4-811B-B0889DAA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15853" y="3959860"/>
            <a:ext cx="2694940" cy="430530"/>
          </a:xfrm>
          <a:custGeom xmlns:a="http://schemas.openxmlformats.org/drawingml/2006/main"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175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lvl="0" algn="l">
              <a:buClrTx/>
              <a:buSzTx/>
              <a:buFontTx/>
              <a:buNone/>
            </a:pPr>
            <a:endParaRPr sz="2800">
              <a:solidFill>
                <a:srgbClr val="324274"/>
              </a:solidFill>
              <a:latin typeface="华文新魏"/>
              <a:ea typeface="华文新魏"/>
              <a:cs typeface="华文新魏"/>
            </a:endParaRPr>
          </a:p>
        </p:txBody>
      </p:sp>
      <p:sp>
        <p:nvSpPr>
          <p:cNvPr id="33" name="MH_Others_2">
            <a:extLst xmlns:a="http://schemas.openxmlformats.org/drawingml/2006/main">
              <a:ext uri="{FF2B5EF4-FFF2-40B4-BE49-F238E27FC236}">
                <a16:creationId xmlns:a16="http://schemas.microsoft.com/office/drawing/2014/main" id="{324F1F4D-F1D1-4FC7-9924-9C9E523C2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503" y="1808480"/>
            <a:ext cx="5928995" cy="3073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000">
                <a:solidFill>
                  <a:schemeClr val="bg1">
                    <a:lumMod val="85000"/>
                  </a:schemeClr>
                </a:solidFill>
                <a:latin typeface="华文新魏"/>
                <a:ea typeface="华文新魏"/>
                <a:cs typeface="华文新魏"/>
              </a:rPr>
              <a:t>CONTENTS</a:t>
            </a:r>
            <a:endParaRPr sz="2000">
              <a:solidFill>
                <a:schemeClr val="bg1">
                  <a:lumMod val="85000"/>
                </a:schemeClr>
              </a:solidFill>
              <a:latin typeface="华文新魏"/>
              <a:ea typeface="华文新魏"/>
              <a:cs typeface="华文新魏"/>
            </a:endParaRPr>
          </a:p>
        </p:txBody>
      </p:sp>
      <p:sp>
        <p:nvSpPr>
          <p:cNvPr id="32" name="MH_Others_1">
            <a:extLst xmlns:a="http://schemas.openxmlformats.org/drawingml/2006/main">
              <a:ext uri="{FF2B5EF4-FFF2-40B4-BE49-F238E27FC236}">
                <a16:creationId xmlns:a16="http://schemas.microsoft.com/office/drawing/2014/main" id="{5AF9F1DD-C3CC-44B8-ACC9-7BA1C2C2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745" y="1408430"/>
            <a:ext cx="2626510" cy="110744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41300" dist="88900" dir="8100000" algn="tr" rotWithShape="0">
              <a:prstClr val="black">
                <a:alpha val="13000"/>
              </a:prstClr>
            </a:outerShdw>
          </a:effectLst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>
                <a:solidFill>
                  <a:srgbClr val="324274"/>
                </a:solidFill>
                <a:latin typeface="华文新魏"/>
                <a:ea typeface="华文新魏"/>
                <a:cs typeface="华文新魏"/>
              </a:rPr>
              <a:t>目 录</a:t>
            </a:r>
            <a:endParaRPr sz="7200">
              <a:solidFill>
                <a:srgbClr val="324274"/>
              </a:solidFill>
              <a:latin typeface="华文新魏"/>
              <a:ea typeface="华文新魏"/>
              <a:cs typeface="华文新魏"/>
            </a:endParaRPr>
          </a:p>
        </p:txBody>
      </p:sp>
      <p:sp>
        <p:nvSpPr>
          <p:cNvPr id="7" name="MH_Entry_1">
            <a:extLst xmlns:a="http://schemas.openxmlformats.org/drawingml/2006/main">
              <a:ext uri="{FF2B5EF4-FFF2-40B4-BE49-F238E27FC236}">
                <a16:creationId xmlns:a16="http://schemas.microsoft.com/office/drawing/2014/main" id="{0D9876CD-4355-4F79-BFF9-1786FA256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5853" y="3961130"/>
            <a:ext cx="3041650" cy="430530"/>
          </a:xfrm>
          <a:custGeom xmlns:a="http://schemas.openxmlformats.org/drawingml/2006/main"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175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F477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F477F"/>
                </a:solidFill>
                <a:latin typeface="微软雅黑"/>
                <a:ea typeface="微软雅黑"/>
                <a:cs typeface="微软雅黑"/>
              </a:rPr>
              <a:t>渲染问题</a:t>
            </a:r>
            <a:endParaRPr sz="2800">
              <a:solidFill>
                <a:srgbClr val="324274"/>
              </a:solidFill>
              <a:latin typeface="华文新魏"/>
              <a:ea typeface="华文新魏"/>
              <a:cs typeface="华文新魏"/>
            </a:endParaRPr>
          </a:p>
        </p:txBody>
      </p:sp>
      <p:sp>
        <p:nvSpPr>
          <p:cNvPr id="2" name="MH_Number_3">
            <a:extLst xmlns:a="http://schemas.openxmlformats.org/drawingml/2006/main">
              <a:ext uri="{FF2B5EF4-FFF2-40B4-BE49-F238E27FC236}">
                <a16:creationId xmlns:a16="http://schemas.microsoft.com/office/drawing/2014/main" id="{025F61FD-F316-448A-80BD-637AC2D53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4648" y="4535170"/>
            <a:ext cx="379730" cy="3797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4274"/>
          </a:solidFill>
          <a:ln xmlns:a="http://schemas.openxmlformats.org/drawingml/2006/main" w="28575">
            <a:solidFill>
              <a:schemeClr val="bg1"/>
            </a:solidFill>
          </a:ln>
          <a:effectLst xmlns:a="http://schemas.openxmlformats.org/drawingml/2006/main">
            <a:outerShdw blurRad="203200" dist="1143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10" b="1">
                <a:solidFill>
                  <a:schemeClr val="bg1"/>
                </a:solidFill>
                <a:latin typeface="华文新魏"/>
                <a:ea typeface="华文新魏"/>
                <a:cs typeface="华文新魏"/>
              </a:rPr>
              <a:t>4</a:t>
            </a:r>
            <a:endParaRPr sz="2110" b="1">
              <a:solidFill>
                <a:schemeClr val="bg1"/>
              </a:solidFill>
              <a:latin typeface="华文新魏"/>
              <a:ea typeface="华文新魏"/>
              <a:cs typeface="华文新魏"/>
            </a:endParaRPr>
          </a:p>
        </p:txBody>
      </p:sp>
      <p:sp>
        <p:nvSpPr>
          <p:cNvPr id="5" name="MH_Entry_1">
            <a:extLst xmlns:a="http://schemas.openxmlformats.org/drawingml/2006/main">
              <a:ext uri="{FF2B5EF4-FFF2-40B4-BE49-F238E27FC236}">
                <a16:creationId xmlns:a16="http://schemas.microsoft.com/office/drawing/2014/main" id="{FE8F38FE-39E7-4980-89C8-E213AFB9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5853" y="4532630"/>
            <a:ext cx="3041650" cy="430530"/>
          </a:xfrm>
          <a:custGeom xmlns:a="http://schemas.openxmlformats.org/drawingml/2006/main"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175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F477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F477F"/>
                </a:solidFill>
                <a:latin typeface="微软雅黑"/>
                <a:ea typeface="微软雅黑"/>
                <a:cs typeface="微软雅黑"/>
              </a:rPr>
              <a:t>总结与下周计划</a:t>
            </a:r>
            <a:endParaRPr sz="2800">
              <a:solidFill>
                <a:srgbClr val="324274"/>
              </a:solidFill>
              <a:latin typeface="华文新魏"/>
              <a:ea typeface="华文新魏"/>
              <a:cs typeface="华文新魏"/>
            </a:endParaRPr>
          </a:p>
        </p:txBody>
      </p:sp>
    </p:spTree>
    <p:extLst>
      <p:ext uri="{BB962C8B-B14F-4D97-AF65-F5344CB8AC3E}">
        <p14:creationId xmlns:p14="http://schemas.microsoft.com/office/powerpoint/2010/main" val="20728654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c2c1c0c9e64e85">
            <a:alphaModFix amt="8000"/>
            <a:grayscl/>
          </a:blip>
          <a:srcRect xmlns:a="http://schemas.openxmlformats.org/drawingml/2006/main" l="0" t="9099" r="0" b="86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139700" y="220345"/>
            <a:ext cx="11912600" cy="6529705"/>
          </a:xfrm>
          <a:prstGeom xmlns:a="http://schemas.openxmlformats.org/drawingml/2006/main" prst="rect">
            <a:avLst/>
          </a:prstGeom>
        </p:spPr>
      </p:pic>
      <p:pic>
        <p:nvPicPr>
          <p:cNvPr id="33" name="图片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7be20f6fe841ce">
            <a:extLst>
              <a:ext uri="{96DAC541-7B7A-43D3-8B79-37D633B846F1}">
                <asvg:svgBlip xmlns:asvg="http://schemas.microsoft.com/office/drawing/2016/SVG/main" r:embed="Rfd5146fc1e2f4b7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4" name="图片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f4f040ea844c5b">
            <a:alphaModFix amt="4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6284595" y="5345430"/>
            <a:ext cx="5601970" cy="1170305"/>
          </a:xfrm>
          <a:prstGeom xmlns:a="http://schemas.openxmlformats.org/drawingml/2006/main" prst="rect">
            <a:avLst/>
          </a:prstGeom>
        </p:spPr>
      </p:pic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0F92E91E-8789-48F2-8ABC-25DB7A37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065" y="6397625"/>
            <a:ext cx="119062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27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ECEFD5E8-E00F-4DF5-A06A-A913D8CA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" y="438150"/>
            <a:ext cx="508635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indent="0">
              <a:buFont typeface="+mj-ea"/>
              <a:buNone/>
              <a:defRPr sz="2475" b="0">
                <a:solidFill>
                  <a:srgbClr val="2F477F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0">
                <a:solidFill>
                  <a:srgbClr val="2F477F"/>
                </a:solidFill>
                <a:latin typeface="微软雅黑"/>
                <a:ea typeface="微软雅黑"/>
                <a:cs typeface="微软雅黑"/>
              </a:rPr>
              <a:t>01 本周工作总览</a:t>
            </a:r>
            <a:endParaRPr sz="280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section-1.1">
            <a:extLst xmlns:a="http://schemas.openxmlformats.org/drawingml/2006/main">
              <a:ext uri="{FF2B5EF4-FFF2-40B4-BE49-F238E27FC236}">
                <a16:creationId xmlns:a16="http://schemas.microsoft.com/office/drawing/2014/main" id="{ACF1A746-DD78-4CE6-8645-6F7AF7DF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668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862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A77C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5A77C8"/>
                </a:solidFill>
                <a:latin typeface="微软雅黑"/>
                <a:ea typeface="微软雅黑"/>
                <a:cs typeface="微软雅黑"/>
              </a:rPr>
              <a:t>1.1 主要工作：完成手柄交互和显示渲染问题的收敛</a:t>
            </a:r>
          </a:p>
        </p:txBody>
      </p:sp>
      <p:sp>
        <p:nvSpPr>
          <p:cNvPr id="30" name="body">
            <a:extLst xmlns:a="http://schemas.openxmlformats.org/drawingml/2006/main">
              <a:ext uri="{FF2B5EF4-FFF2-40B4-BE49-F238E27FC236}">
                <a16:creationId xmlns:a16="http://schemas.microsoft.com/office/drawing/2014/main" id="{79FD9ADD-D5E0-4F96-B50B-D99768AE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811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① 两点确定矢量：补齐起点、终点点柄，支持选中、拖拽和捕捉吸附</a:t>
            </a:r>
          </a:p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② 矢量方向控制：矢量箭头支持双击反向，对话框状态和预览同步更新</a:t>
            </a:r>
          </a:p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③ 工具归档：矢量捕捉与矢量手柄集中到 interaction/tools，减少主窗口耦合</a:t>
            </a:r>
          </a:p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④ 渲染链路：从业务层手动构建 Mesh，收敛到 IVtk 统一生成显示数据</a:t>
            </a:r>
          </a:p>
        </p:txBody>
      </p:sp>
      <p:graphicFrame>
        <p:nvGraphicFramePr>
          <p:cNvPr id="39" name=""/>
          <p:cNvGraphicFramePr/>
          <p:nvPr/>
        </p:nvGraphicFramePr>
        <p:xfrm>
          <a:off xmlns:a="http://schemas.openxmlformats.org/drawingml/2006/main" x="1428750" y="3638550"/>
          <a:ext xmlns:a="http://schemas.openxmlformats.org/drawingml/2006/main" cx="9239250" cy="16002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809750"/>
                <a:gridCol w="3714750"/>
                <a:gridCol w="3714750"/>
              </a:tblGrid>
              <a:tr h="5334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提交</a:t>
                      </a:r>
                    </a:p>
                  </a:txBody>
                  <a:tcPr marL="91440" marR="91440" marT="45720" marB="45720">
                    <a:solidFill>
                      <a:srgbClr val="5B8FD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本周主题</a:t>
                      </a:r>
                    </a:p>
                  </a:txBody>
                  <a:tcPr marL="91440" marR="91440" marT="45720" marB="45720">
                    <a:solidFill>
                      <a:srgbClr val="5B8FD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结果</a:t>
                      </a:r>
                    </a:p>
                  </a:txBody>
                  <a:tcPr marL="91440" marR="91440" marT="45720" marB="45720">
                    <a:solidFill>
                      <a:srgbClr val="5B8FDC"/>
                    </a:solidFill>
                  </a:tcPr>
                </a:tc>
              </a:tr>
              <a:tr h="5334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80c2250</a:t>
                      </a:r>
                    </a:p>
                  </a:txBody>
                  <a:tcPr marL="91440" marR="91440" marT="45720" marB="45720">
                    <a:solidFill>
                      <a:srgbClr val="D9E4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点选反馈与两点矢量交互</a:t>
                      </a:r>
                    </a:p>
                  </a:txBody>
                  <a:tcPr marL="91440" marR="91440" marT="45720" marB="45720">
                    <a:solidFill>
                      <a:srgbClr val="D9E4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Release 构建通过并推送</a:t>
                      </a:r>
                    </a:p>
                  </a:txBody>
                  <a:tcPr marL="91440" marR="91440" marT="45720" marB="45720">
                    <a:solidFill>
                      <a:srgbClr val="D9E4F6"/>
                    </a:solidFill>
                  </a:tcPr>
                </a:tc>
              </a:tr>
              <a:tr h="5334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de28007</a:t>
                      </a:r>
                    </a:p>
                  </a:txBody>
                  <a:tcPr marL="91440" marR="91440" marT="45720" marB="45720">
                    <a:solidFill>
                      <a:srgbClr val="EEF3F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显示三角化交给 IVtk</a:t>
                      </a:r>
                    </a:p>
                  </a:txBody>
                  <a:tcPr marL="91440" marR="91440" marT="45720" marB="45720">
                    <a:solidFill>
                      <a:srgbClr val="EEF3F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移除业务层显式 Mesh 调用</a:t>
                      </a:r>
                    </a:p>
                  </a:txBody>
                  <a:tcPr marL="91440" marR="91440" marT="45720" marB="45720"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12798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78c7bd63ba485d">
            <a:alphaModFix amt="8000"/>
            <a:grayscl/>
          </a:blip>
          <a:srcRect xmlns:a="http://schemas.openxmlformats.org/drawingml/2006/main" l="0" t="9099" r="0" b="86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139700" y="220345"/>
            <a:ext cx="11912600" cy="6529705"/>
          </a:xfrm>
          <a:prstGeom xmlns:a="http://schemas.openxmlformats.org/drawingml/2006/main" prst="rect">
            <a:avLst/>
          </a:prstGeom>
        </p:spPr>
      </p:pic>
      <p:pic>
        <p:nvPicPr>
          <p:cNvPr id="35" name="图片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bc1b2c81e24736">
            <a:extLst>
              <a:ext uri="{96DAC541-7B7A-43D3-8B79-37D633B846F1}">
                <asvg:svgBlip xmlns:asvg="http://schemas.microsoft.com/office/drawing/2016/SVG/main" r:embed="Rb41461588448471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6" name="图片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21633c1b8147e7">
            <a:alphaModFix amt="4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6284595" y="5345430"/>
            <a:ext cx="5601970" cy="1170305"/>
          </a:xfrm>
          <a:prstGeom xmlns:a="http://schemas.openxmlformats.org/drawingml/2006/main" prst="rect">
            <a:avLst/>
          </a:prstGeom>
        </p:spPr>
      </p:pic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BDF0B458-8940-4FC6-9492-6F903A3B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065" y="6397625"/>
            <a:ext cx="119062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27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95F4D657-115A-496C-B018-D803A91D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" y="438150"/>
            <a:ext cx="8052435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ClrTx/>
              <a:buSzTx/>
              <a:buFont typeface="+mj-ea"/>
              <a:buNone/>
              <a:defRPr sz="2475" b="0">
                <a:solidFill>
                  <a:srgbClr val="2F477F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0">
                <a:solidFill>
                  <a:srgbClr val="2F477F"/>
                </a:solidFill>
                <a:latin typeface="微软雅黑"/>
                <a:ea typeface="微软雅黑"/>
                <a:cs typeface="微软雅黑"/>
              </a:rPr>
              <a:t>02 两点确定矢量：点操作手柄</a:t>
            </a:r>
            <a:endParaRPr sz="280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39" name="表格 7" hidden="1"/>
          <p:cNvGraphicFramePr/>
          <p:nvPr/>
        </p:nvGraphicFramePr>
        <p:xfrm>
          <a:off xmlns:a="http://schemas.openxmlformats.org/drawingml/2006/main" x="1921510" y="1754505"/>
          <a:ext xmlns:a="http://schemas.openxmlformats.org/drawingml/2006/main" cx="9199245" cy="19050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9885"/>
                <a:gridCol w="1614170"/>
                <a:gridCol w="1270635"/>
                <a:gridCol w="4694555"/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类型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形状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可拖拽</a:t>
                      </a:r>
                      <a:r>
                        <a:t>性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实例</a:t>
                      </a:r>
                      <a:endParaRPr/>
                    </a:p>
                  </a:txBody>
                  <a:tcPr marL="91440" marR="91440" marT="45720" marB="45720"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点</a:t>
                      </a:r>
                      <a:r>
                        <a:t>操作柄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球形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是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块原点、拉伸/旋转起始球、拾取点</a:t>
                      </a:r>
                      <a:endParaRPr/>
                    </a:p>
                  </a:txBody>
                  <a:tcPr marL="91440" marR="91440" marT="45720" marB="45720"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矢量操作</a:t>
                      </a:r>
                      <a:r>
                        <a:t>柄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箭头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否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圆柱/圆锥轴向、矢量对话框方向</a:t>
                      </a:r>
                      <a:endParaRPr/>
                    </a:p>
                  </a:txBody>
                  <a:tcPr marL="91440" marR="91440" marT="45720" marB="45720"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距离操作</a:t>
                      </a:r>
                      <a:r>
                        <a:t>柄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箭头</a:t>
                      </a:r>
                      <a:r>
                        <a:t>+</a:t>
                      </a:r>
                      <a:r>
                        <a:t>箭</a:t>
                      </a:r>
                      <a:r>
                        <a:t>柄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是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拉伸起止、</a:t>
                      </a:r>
                      <a:r>
                        <a:t>长方体三轴尺寸、倒角/圆角半径</a:t>
                      </a:r>
                      <a:endParaRPr/>
                    </a:p>
                  </a:txBody>
                  <a:tcPr marL="91440" marR="91440" marT="45720" marB="45720"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角度操作</a:t>
                      </a:r>
                      <a:r>
                        <a:t>柄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箭头</a:t>
                      </a:r>
                      <a:r>
                        <a:t>+</a:t>
                      </a:r>
                      <a:r>
                        <a:t>箭</a:t>
                      </a:r>
                      <a:r>
                        <a:t>柄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是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旋转起止角度</a:t>
                      </a:r>
                      <a:endParaRPr/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graphicFrame>
        <p:nvGraphicFramePr>
          <p:cNvPr id="40" name="表格 9" hidden="1"/>
          <p:cNvGraphicFramePr/>
          <p:nvPr/>
        </p:nvGraphicFramePr>
        <p:xfrm>
          <a:off xmlns:a="http://schemas.openxmlformats.org/drawingml/2006/main" x="1921510" y="4267835"/>
          <a:ext xmlns:a="http://schemas.openxmlformats.org/drawingml/2006/main" cx="9215120" cy="19050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2965"/>
                <a:gridCol w="2132965"/>
                <a:gridCol w="2132965"/>
                <a:gridCol w="2816225"/>
              </a:tblGrid>
              <a:tr h="38100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1800" i="0"/>
                        <a:t>状态</a:t>
                      </a:r>
                      <a:endParaRPr sz="1800" i="0"/>
                    </a:p>
                  </a:txBody>
                  <a:tcPr marL="57467" marR="57467" marT="32067" marB="32067" anchor="t" anchorCtr="0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1800" i="0"/>
                        <a:t>颜色</a:t>
                      </a:r>
                      <a:endParaRPr sz="1800" i="0"/>
                    </a:p>
                  </a:txBody>
                  <a:tcPr marL="57467" marR="57467" marT="32067" marB="32067" anchor="t" anchorCtr="0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1800" i="0"/>
                        <a:t>缩放因子</a:t>
                      </a:r>
                      <a:endParaRPr sz="1800" i="0"/>
                    </a:p>
                  </a:txBody>
                  <a:tcPr marL="57467" marR="57467" marT="32067" marB="32067" anchor="t" anchorCtr="0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1800" i="0"/>
                        <a:t>触发条件</a:t>
                      </a:r>
                      <a:endParaRPr sz="1800" i="0"/>
                    </a:p>
                  </a:txBody>
                  <a:tcPr marL="57467" marR="57467" marT="32067" marB="32067" anchor="t" anchorCtr="0"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1800" b="0" i="0"/>
                        <a:t>默认</a:t>
                      </a:r>
                      <a:endParaRPr sz="1800" b="0" i="0"/>
                    </a:p>
                  </a:txBody>
                  <a:tcPr marL="57467" marR="57467" marT="32067" marB="32067" anchor="t" anchorCtr="0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1800" b="0" i="0"/>
                        <a:t>蓝 (64,140,242)</a:t>
                      </a:r>
                      <a:endParaRPr sz="1800" b="0" i="0"/>
                    </a:p>
                  </a:txBody>
                  <a:tcPr marL="57467" marR="57467" marT="32067" marB="32067" anchor="t" anchorCtr="0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1800" b="0" i="0"/>
                        <a:t>1.00</a:t>
                      </a:r>
                      <a:endParaRPr sz="1800" b="0" i="0"/>
                    </a:p>
                  </a:txBody>
                  <a:tcPr marL="57467" marR="57467" marT="32067" marB="32067" anchor="t" anchorCtr="0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1800" b="0" i="0"/>
                        <a:t>无交互</a:t>
                      </a:r>
                      <a:endParaRPr sz="1800" b="0" i="0"/>
                    </a:p>
                  </a:txBody>
                  <a:tcPr marL="57467" marR="57467" marT="32067" marB="32067" anchor="t" anchorCtr="0"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1800" b="0" i="0"/>
                        <a:t>悬浮</a:t>
                      </a:r>
                      <a:endParaRPr sz="1800" b="0" i="0"/>
                    </a:p>
                  </a:txBody>
                  <a:tcPr marL="57467" marR="57467" marT="32067" marB="32067" anchor="t" anchorCtr="0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1800" b="0" i="0"/>
                        <a:t>琥珀黄 (255,230,40)</a:t>
                      </a:r>
                      <a:endParaRPr sz="1800" b="0" i="0"/>
                    </a:p>
                  </a:txBody>
                  <a:tcPr marL="57467" marR="57467" marT="32067" marB="32067" anchor="t" anchorCtr="0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1800" b="0" i="0"/>
                        <a:t>1.22</a:t>
                      </a:r>
                      <a:endParaRPr sz="1800" b="0" i="0"/>
                    </a:p>
                  </a:txBody>
                  <a:tcPr marL="57467" marR="57467" marT="32067" marB="32067" anchor="t" anchorCtr="0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1800" b="0" i="0"/>
                        <a:t>鼠标悬停控制柄</a:t>
                      </a:r>
                      <a:endParaRPr sz="1800" b="0" i="0"/>
                    </a:p>
                  </a:txBody>
                  <a:tcPr marL="57467" marR="57467" marT="32067" marB="32067" anchor="t" anchorCtr="0"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1800" b="0" i="0"/>
                        <a:t>选择</a:t>
                      </a:r>
                      <a:endParaRPr sz="1800" b="0" i="0"/>
                    </a:p>
                  </a:txBody>
                  <a:tcPr marL="57467" marR="57467" marT="32067" marB="32067" anchor="t" anchorCtr="0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1800" b="0" i="0"/>
                        <a:t>翠绿 (38,255,64)</a:t>
                      </a:r>
                      <a:endParaRPr sz="1800" b="0" i="0"/>
                    </a:p>
                  </a:txBody>
                  <a:tcPr marL="57467" marR="57467" marT="32067" marB="32067" anchor="t" anchorCtr="0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1800" b="0" i="0"/>
                        <a:t>1.28</a:t>
                      </a:r>
                      <a:endParaRPr sz="1800" b="0" i="0"/>
                    </a:p>
                  </a:txBody>
                  <a:tcPr marL="57467" marR="57467" marT="32067" marB="32067" anchor="t" anchorCtr="0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1800" b="0" i="0"/>
                        <a:t>按下未拖拽</a:t>
                      </a:r>
                      <a:endParaRPr sz="1800" b="0" i="0"/>
                    </a:p>
                  </a:txBody>
                  <a:tcPr marL="57467" marR="57467" marT="32067" marB="32067" anchor="t" anchorCtr="0"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1800" b="0" i="0"/>
                        <a:t>拖拽</a:t>
                      </a:r>
                      <a:endParaRPr sz="1800" b="0" i="0"/>
                    </a:p>
                  </a:txBody>
                  <a:tcPr marL="57467" marR="57467" marT="32067" marB="32067" anchor="t" anchorCtr="0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1800" b="0" i="0"/>
                        <a:t>橙红 (255,64,26)</a:t>
                      </a:r>
                      <a:endParaRPr sz="1800" b="0" i="0"/>
                    </a:p>
                  </a:txBody>
                  <a:tcPr marL="57467" marR="57467" marT="32067" marB="32067" anchor="t" anchorCtr="0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1800" b="0" i="0"/>
                        <a:t>1.32</a:t>
                      </a:r>
                      <a:endParaRPr sz="1800" b="0" i="0"/>
                    </a:p>
                  </a:txBody>
                  <a:tcPr marL="57467" marR="57467" marT="32067" marB="32067" anchor="t" anchorCtr="0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1800" b="0" i="0"/>
                        <a:t>正在拖拽</a:t>
                      </a:r>
                      <a:endParaRPr sz="1800" b="0" i="0"/>
                    </a:p>
                  </a:txBody>
                  <a:tcPr marL="57467" marR="57467" marT="32067" marB="32067" anchor="t" anchorCtr="0"/>
                </a:tc>
              </a:tr>
            </a:tbl>
          </a:graphicData>
        </a:graphic>
      </p:graphicFrame>
      <p:sp>
        <p:nvSpPr>
          <p:cNvPr id="31" name="section-2.1">
            <a:extLst xmlns:a="http://schemas.openxmlformats.org/drawingml/2006/main">
              <a:ext uri="{FF2B5EF4-FFF2-40B4-BE49-F238E27FC236}">
                <a16:creationId xmlns:a16="http://schemas.microsoft.com/office/drawing/2014/main" id="{7845473C-69E5-4B1A-9537-CBCE78B9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668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862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A77C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5A77C8"/>
                </a:solidFill>
                <a:latin typeface="微软雅黑"/>
                <a:ea typeface="微软雅黑"/>
                <a:cs typeface="微软雅黑"/>
              </a:rPr>
              <a:t>2.1 主要工作：两个点柄承担起点和终点的选择与拖拽</a:t>
            </a:r>
          </a:p>
        </p:txBody>
      </p:sp>
      <p:sp>
        <p:nvSpPr>
          <p:cNvPr id="32" name="body">
            <a:extLst xmlns:a="http://schemas.openxmlformats.org/drawingml/2006/main">
              <a:ext uri="{FF2B5EF4-FFF2-40B4-BE49-F238E27FC236}">
                <a16:creationId xmlns:a16="http://schemas.microsoft.com/office/drawing/2014/main" id="{63D97530-5FD8-4824-ACC5-22FA4C8BA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811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① 起点、终点使用球形 actor 表示，鼠标按下先判断是否命中点柄</a:t>
            </a:r>
          </a:p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② 拖拽时把屏幕位移投影到视图平面，再结合点捕捉器求新的三维坐标</a:t>
            </a:r>
          </a:p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③ 拖拽过程中实时刷新矢量预览、对话框参数和参考覆盖层尺寸</a:t>
            </a:r>
          </a:p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④ 点选完成后立即同步 overlay 相机并 Render，解决高亮延迟一拍的问题</a:t>
            </a:r>
          </a:p>
        </p:txBody>
      </p:sp>
      <p:sp>
        <p:nvSpPr>
          <p:cNvPr id="33" name="code-box">
            <a:extLst xmlns:a="http://schemas.openxmlformats.org/drawingml/2006/main">
              <a:ext uri="{FF2B5EF4-FFF2-40B4-BE49-F238E27FC236}">
                <a16:creationId xmlns:a16="http://schemas.microsoft.com/office/drawing/2014/main" id="{42E303F5-552E-41AE-83E0-9BBAA78F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810000"/>
            <a:ext cx="8001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 w="9525">
            <a:solidFill>
              <a:srgbClr val="C9D3EA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6344D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26344D"/>
                </a:solidFill>
                <a:latin typeface="Arial"/>
                <a:ea typeface="Arial"/>
                <a:cs typeface="Arial"/>
              </a:rPr>
              <a:t>handleVectorTwoPointHandleMouseDown(x, y)</a:t>
            </a:r>
          </a:p>
          <a:p xmlns:a="http://schemas.openxmlformats.org/drawingml/2006/main">
            <a:pPr>
              <a:defRPr sz="1350">
                <a:solidFill>
                  <a:srgbClr val="26344D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26344D"/>
                </a:solidFill>
                <a:latin typeface="Arial"/>
                <a:ea typeface="Arial"/>
                <a:cs typeface="Arial"/>
              </a:rPr>
              <a:t>handleVectorTwoPointHandleMouseMove(x, y)</a:t>
            </a:r>
          </a:p>
          <a:p xmlns:a="http://schemas.openxmlformats.org/drawingml/2006/main">
            <a:pPr>
              <a:defRPr sz="1350">
                <a:solidFill>
                  <a:srgbClr val="26344D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26344D"/>
                </a:solidFill>
                <a:latin typeface="Arial"/>
                <a:ea typeface="Arial"/>
                <a:cs typeface="Arial"/>
              </a:rPr>
              <a:t>handleVectorTwoPointHandleMouseUp(x, y)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26344D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26344D"/>
                </a:solidFill>
                <a:latin typeface="Arial"/>
                <a:ea typeface="Arial"/>
                <a:cs typeface="Arial"/>
              </a:rPr>
              <a:t>showSelectedPoint(point)</a:t>
            </a:r>
          </a:p>
          <a:p xmlns:a="http://schemas.openxmlformats.org/drawingml/2006/main">
            <a:pPr>
              <a:defRPr sz="1350">
                <a:solidFill>
                  <a:srgbClr val="26344D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26344D"/>
                </a:solidFill>
                <a:latin typeface="Arial"/>
                <a:ea typeface="Arial"/>
                <a:cs typeface="Arial"/>
              </a:rPr>
              <a:t>refreshPointSelectionOverlay()</a:t>
            </a:r>
          </a:p>
        </p:txBody>
      </p:sp>
    </p:spTree>
    <p:extLst>
      <p:ext uri="{BB962C8B-B14F-4D97-AF65-F5344CB8AC3E}">
        <p14:creationId xmlns:p14="http://schemas.microsoft.com/office/powerpoint/2010/main" val="13169072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7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87fd09d3454d23">
            <a:alphaModFix amt="8000"/>
            <a:grayscl/>
          </a:blip>
          <a:srcRect xmlns:a="http://schemas.openxmlformats.org/drawingml/2006/main" l="0" t="9099" r="0" b="86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139700" y="220345"/>
            <a:ext cx="11912600" cy="6529705"/>
          </a:xfrm>
          <a:prstGeom xmlns:a="http://schemas.openxmlformats.org/drawingml/2006/main" prst="rect">
            <a:avLst/>
          </a:prstGeom>
        </p:spPr>
      </p:pic>
      <p:pic>
        <p:nvPicPr>
          <p:cNvPr id="38" name="图片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6c112f1039408d">
            <a:extLst>
              <a:ext uri="{96DAC541-7B7A-43D3-8B79-37D633B846F1}">
                <asvg:svgBlip xmlns:asvg="http://schemas.microsoft.com/office/drawing/2016/SVG/main" r:embed="Rf571dfa412a3414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9" name="图片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28452e3ebe4634">
            <a:alphaModFix amt="4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6284595" y="5345430"/>
            <a:ext cx="5601970" cy="1170305"/>
          </a:xfrm>
          <a:prstGeom xmlns:a="http://schemas.openxmlformats.org/drawingml/2006/main" prst="rect">
            <a:avLst/>
          </a:prstGeom>
        </p:spPr>
      </p:pic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EF18AEF1-DAF6-4764-A096-AD9036A2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065" y="6397625"/>
            <a:ext cx="119062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27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2F0FA134-43B7-46BC-BB94-357615B79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" y="438150"/>
            <a:ext cx="508635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ClrTx/>
              <a:buSzTx/>
              <a:buFont typeface="+mj-ea"/>
              <a:buNone/>
              <a:defRPr sz="2475" b="0">
                <a:solidFill>
                  <a:srgbClr val="2F477F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0">
                <a:solidFill>
                  <a:srgbClr val="2F477F"/>
                </a:solidFill>
                <a:latin typeface="微软雅黑"/>
                <a:ea typeface="微软雅黑"/>
                <a:cs typeface="微软雅黑"/>
              </a:rPr>
              <a:t>03 两点确定矢量：选中与反向</a:t>
            </a:r>
            <a:endParaRPr sz="280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section-3.1">
            <a:extLst xmlns:a="http://schemas.openxmlformats.org/drawingml/2006/main">
              <a:ext uri="{FF2B5EF4-FFF2-40B4-BE49-F238E27FC236}">
                <a16:creationId xmlns:a16="http://schemas.microsoft.com/office/drawing/2014/main" id="{41D3FF5F-3218-4F6D-B9AD-C51761916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668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862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A77C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5A77C8"/>
                </a:solidFill>
                <a:latin typeface="微软雅黑"/>
                <a:ea typeface="微软雅黑"/>
                <a:cs typeface="微软雅黑"/>
              </a:rPr>
              <a:t>3.1 主要工作：点柄可选中，矢量箭头支持双击反向</a:t>
            </a:r>
          </a:p>
        </p:txBody>
      </p:sp>
      <p:sp>
        <p:nvSpPr>
          <p:cNvPr id="30" name="body">
            <a:extLst xmlns:a="http://schemas.openxmlformats.org/drawingml/2006/main">
              <a:ext uri="{FF2B5EF4-FFF2-40B4-BE49-F238E27FC236}">
                <a16:creationId xmlns:a16="http://schemas.microsoft.com/office/drawing/2014/main" id="{A83DABDD-CFF9-4281-9722-4B620087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81150"/>
            <a:ext cx="9620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① 选中：通过 picker 判断 start/end 点柄，进入拖拽或确认状态</a:t>
            </a:r>
          </a:p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② 候选点：边附近只显示端点、中点候选，未进入激活半径时不落点</a:t>
            </a:r>
          </a:p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③ 反向：双击矢量箭头后交换起点和终点，当前矢量方向同步翻转</a:t>
            </a:r>
          </a:p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④ 同步：反向后刷新 dialog、预览 actor 和已选点反馈，避免状态分裂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E0B613-02A1-47B1-8D9B-B0DB99C9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152900"/>
            <a:ext cx="1666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2FB"/>
          </a:solidFill>
          <a:ln xmlns:a="http://schemas.openxmlformats.org/drawingml/2006/main" w="9525">
            <a:solidFill>
              <a:srgbClr val="B7C6E6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477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F477F"/>
                </a:solidFill>
                <a:latin typeface="微软雅黑"/>
                <a:ea typeface="微软雅黑"/>
                <a:cs typeface="微软雅黑"/>
              </a:rPr>
              <a:t>点柄命中</a:t>
            </a:r>
          </a:p>
        </p:txBody>
      </p:sp>
      <p:sp>
        <p:nvSpPr>
          <p:cNvPr id="32" name="process-line">
            <a:extLst xmlns:a="http://schemas.openxmlformats.org/drawingml/2006/main">
              <a:ext uri="{FF2B5EF4-FFF2-40B4-BE49-F238E27FC236}">
                <a16:creationId xmlns:a16="http://schemas.microsoft.com/office/drawing/2014/main" id="{45435BF6-23AD-42FB-B294-03DF68FD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38150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477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6CD81A-5E33-4888-9B1B-2BB6F85F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52900"/>
            <a:ext cx="1666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2FB"/>
          </a:solidFill>
          <a:ln xmlns:a="http://schemas.openxmlformats.org/drawingml/2006/main" w="9525">
            <a:solidFill>
              <a:srgbClr val="B7C6E6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477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F477F"/>
                </a:solidFill>
                <a:latin typeface="微软雅黑"/>
                <a:ea typeface="微软雅黑"/>
                <a:cs typeface="微软雅黑"/>
              </a:rPr>
              <a:t>拖拽更新</a:t>
            </a:r>
          </a:p>
        </p:txBody>
      </p:sp>
      <p:sp>
        <p:nvSpPr>
          <p:cNvPr id="34" name="process-line">
            <a:extLst xmlns:a="http://schemas.openxmlformats.org/drawingml/2006/main">
              <a:ext uri="{FF2B5EF4-FFF2-40B4-BE49-F238E27FC236}">
                <a16:creationId xmlns:a16="http://schemas.microsoft.com/office/drawing/2014/main" id="{FDC96D96-1505-478C-A8D1-1C54DD3A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38150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477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CC1394-6FC7-4342-8F1A-F297B276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52900"/>
            <a:ext cx="1666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2FB"/>
          </a:solidFill>
          <a:ln xmlns:a="http://schemas.openxmlformats.org/drawingml/2006/main" w="9525">
            <a:solidFill>
              <a:srgbClr val="B7C6E6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477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F477F"/>
                </a:solidFill>
                <a:latin typeface="微软雅黑"/>
                <a:ea typeface="微软雅黑"/>
                <a:cs typeface="微软雅黑"/>
              </a:rPr>
              <a:t>参数同步</a:t>
            </a:r>
          </a:p>
        </p:txBody>
      </p:sp>
      <p:sp>
        <p:nvSpPr>
          <p:cNvPr id="36" name="code-box">
            <a:extLst xmlns:a="http://schemas.openxmlformats.org/drawingml/2006/main">
              <a:ext uri="{FF2B5EF4-FFF2-40B4-BE49-F238E27FC236}">
                <a16:creationId xmlns:a16="http://schemas.microsoft.com/office/drawing/2014/main" id="{3C362BAF-260C-4060-87B2-5E2FFDEC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48250"/>
            <a:ext cx="666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 w="9525">
            <a:solidFill>
              <a:srgbClr val="C9D3EA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6344D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26344D"/>
                </a:solidFill>
                <a:latin typeface="Arial"/>
                <a:ea typeface="Arial"/>
                <a:cs typeface="Arial"/>
              </a:rPr>
              <a:t>handleVectorTwoPointArrowDoubleClick(x, y)</a:t>
            </a:r>
          </a:p>
          <a:p xmlns:a="http://schemas.openxmlformats.org/drawingml/2006/main">
            <a:pPr>
              <a:defRPr sz="1350">
                <a:solidFill>
                  <a:srgbClr val="26344D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26344D"/>
                </a:solidFill>
                <a:latin typeface="Arial"/>
                <a:ea typeface="Arial"/>
                <a:cs typeface="Arial"/>
              </a:rPr>
              <a:t>reverseVectorTwoPointDirection()</a:t>
            </a:r>
          </a:p>
        </p:txBody>
      </p:sp>
    </p:spTree>
    <p:extLst>
      <p:ext uri="{BB962C8B-B14F-4D97-AF65-F5344CB8AC3E}">
        <p14:creationId xmlns:p14="http://schemas.microsoft.com/office/powerpoint/2010/main" val="8836041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fffe7df2bf42c8">
            <a:alphaModFix amt="8000"/>
            <a:grayscl/>
          </a:blip>
          <a:srcRect xmlns:a="http://schemas.openxmlformats.org/drawingml/2006/main" l="0" t="9099" r="0" b="86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139700" y="220345"/>
            <a:ext cx="11912600" cy="6529705"/>
          </a:xfrm>
          <a:prstGeom xmlns:a="http://schemas.openxmlformats.org/drawingml/2006/main" prst="rect">
            <a:avLst/>
          </a:prstGeom>
        </p:spPr>
      </p:pic>
      <p:pic>
        <p:nvPicPr>
          <p:cNvPr id="33" name="图片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d3d085cc994817">
            <a:extLst>
              <a:ext uri="{96DAC541-7B7A-43D3-8B79-37D633B846F1}">
                <asvg:svgBlip xmlns:asvg="http://schemas.microsoft.com/office/drawing/2016/SVG/main" r:embed="R8883f16052cd4d6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4" name="图片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dd6b14bb6b4de9">
            <a:alphaModFix amt="4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6284595" y="5345430"/>
            <a:ext cx="5601970" cy="1170305"/>
          </a:xfrm>
          <a:prstGeom xmlns:a="http://schemas.openxmlformats.org/drawingml/2006/main" prst="rect">
            <a:avLst/>
          </a:prstGeom>
        </p:spPr>
      </p:pic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CF25B657-F200-4C06-943B-13262A10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065" y="6397625"/>
            <a:ext cx="119062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27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44DB8D9C-4729-4D10-AE41-769D9837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" y="438150"/>
            <a:ext cx="508635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ClrTx/>
              <a:buSzTx/>
              <a:buFont typeface="+mj-ea"/>
              <a:buNone/>
              <a:defRPr sz="2475" b="0">
                <a:solidFill>
                  <a:srgbClr val="2F477F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0">
                <a:solidFill>
                  <a:srgbClr val="2F477F"/>
                </a:solidFill>
                <a:latin typeface="微软雅黑"/>
                <a:ea typeface="微软雅黑"/>
                <a:cs typeface="微软雅黑"/>
              </a:rPr>
              <a:t>04 其他矢量确定方式</a:t>
            </a:r>
            <a:endParaRPr sz="280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section-4.1">
            <a:extLst xmlns:a="http://schemas.openxmlformats.org/drawingml/2006/main">
              <a:ext uri="{FF2B5EF4-FFF2-40B4-BE49-F238E27FC236}">
                <a16:creationId xmlns:a16="http://schemas.microsoft.com/office/drawing/2014/main" id="{A3AFC9AE-C1F8-47A8-BC08-CC097BCF7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668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862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A77C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5A77C8"/>
                </a:solidFill>
                <a:latin typeface="微软雅黑"/>
                <a:ea typeface="微软雅黑"/>
                <a:cs typeface="微软雅黑"/>
              </a:rPr>
              <a:t>4.1 主要工作：把不同矢量来源纳入同一种反向语义</a:t>
            </a:r>
          </a:p>
        </p:txBody>
      </p:sp>
      <p:sp>
        <p:nvSpPr>
          <p:cNvPr id="30" name="body">
            <a:extLst xmlns:a="http://schemas.openxmlformats.org/drawingml/2006/main">
              <a:ext uri="{FF2B5EF4-FFF2-40B4-BE49-F238E27FC236}">
                <a16:creationId xmlns:a16="http://schemas.microsoft.com/office/drawing/2014/main" id="{657548DB-2D5D-43C2-A777-75409527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81150"/>
            <a:ext cx="96202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① 曲线上矢量：点柄沿曲线移动，矢量取该点的切线方向</a:t>
            </a:r>
          </a:p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② 面和平面法向量：箭头代表当前法向，双击后方向翻转</a:t>
            </a:r>
          </a:p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③ 轴矢量：从基准轴或模型轴获得方向，复用箭头反向入口</a:t>
            </a:r>
          </a:p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④ 反向只改变方向符号，不改变点、边、面等几何来源</a:t>
            </a:r>
          </a:p>
        </p:txBody>
      </p:sp>
      <p:graphicFrame>
        <p:nvGraphicFramePr>
          <p:cNvPr id="39" name=""/>
          <p:cNvGraphicFramePr/>
          <p:nvPr/>
        </p:nvGraphicFramePr>
        <p:xfrm>
          <a:off xmlns:a="http://schemas.openxmlformats.org/drawingml/2006/main" x="1428750" y="3733800"/>
          <a:ext xmlns:a="http://schemas.openxmlformats.org/drawingml/2006/main" cx="9334500" cy="2000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095500"/>
                <a:gridCol w="4000500"/>
                <a:gridCol w="3238500"/>
              </a:tblGrid>
              <a:tr h="50006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矢量来源</a:t>
                      </a:r>
                    </a:p>
                  </a:txBody>
                  <a:tcPr marL="91440" marR="91440" marT="45720" marB="45720">
                    <a:solidFill>
                      <a:srgbClr val="5B8FD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操作柄</a:t>
                      </a:r>
                    </a:p>
                  </a:txBody>
                  <a:tcPr marL="91440" marR="91440" marT="45720" marB="45720">
                    <a:solidFill>
                      <a:srgbClr val="5B8FD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反向方式</a:t>
                      </a:r>
                    </a:p>
                  </a:txBody>
                  <a:tcPr marL="91440" marR="91440" marT="45720" marB="45720">
                    <a:solidFill>
                      <a:srgbClr val="5B8FDC"/>
                    </a:solidFill>
                  </a:tcPr>
                </a:tc>
              </a:tr>
              <a:tr h="50006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两点</a:t>
                      </a:r>
                    </a:p>
                  </a:txBody>
                  <a:tcPr marL="91440" marR="91440" marT="45720" marB="45720">
                    <a:solidFill>
                      <a:srgbClr val="D9E4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起点球、终点球、方向箭头</a:t>
                      </a:r>
                    </a:p>
                  </a:txBody>
                  <a:tcPr marL="91440" marR="91440" marT="45720" marB="45720">
                    <a:solidFill>
                      <a:srgbClr val="D9E4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双击方向箭头</a:t>
                      </a:r>
                    </a:p>
                  </a:txBody>
                  <a:tcPr marL="91440" marR="91440" marT="45720" marB="45720">
                    <a:solidFill>
                      <a:srgbClr val="D9E4F6"/>
                    </a:solidFill>
                  </a:tcPr>
                </a:tc>
              </a:tr>
              <a:tr h="50006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曲线</a:t>
                      </a:r>
                    </a:p>
                  </a:txBody>
                  <a:tcPr marL="91440" marR="91440" marT="45720" marB="45720">
                    <a:solidFill>
                      <a:srgbClr val="EEF3F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曲线点柄、方向箭头</a:t>
                      </a:r>
                    </a:p>
                  </a:txBody>
                  <a:tcPr marL="91440" marR="91440" marT="45720" marB="45720">
                    <a:solidFill>
                      <a:srgbClr val="EEF3F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沿切线取向后翻转</a:t>
                      </a:r>
                    </a:p>
                  </a:txBody>
                  <a:tcPr marL="91440" marR="91440" marT="45720" marB="45720">
                    <a:solidFill>
                      <a:srgbClr val="EEF3FB"/>
                    </a:solidFill>
                  </a:tcPr>
                </a:tc>
              </a:tr>
              <a:tr h="50006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面/平面/轴</a:t>
                      </a:r>
                    </a:p>
                  </a:txBody>
                  <a:tcPr marL="91440" marR="91440" marT="45720" marB="45720">
                    <a:solidFill>
                      <a:srgbClr val="D9E4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方向箭头</a:t>
                      </a:r>
                    </a:p>
                  </a:txBody>
                  <a:tcPr marL="91440" marR="91440" marT="45720" marB="45720">
                    <a:solidFill>
                      <a:srgbClr val="D9E4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复用同一反向状态</a:t>
                      </a:r>
                    </a:p>
                  </a:txBody>
                  <a:tcPr marL="91440" marR="91440" marT="45720" marB="45720">
                    <a:solidFill>
                      <a:srgbClr val="D9E4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62622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0fa090545c4e97">
            <a:alphaModFix amt="8000"/>
            <a:grayscl/>
          </a:blip>
          <a:srcRect xmlns:a="http://schemas.openxmlformats.org/drawingml/2006/main" l="0" t="9099" r="0" b="86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139700" y="220345"/>
            <a:ext cx="11912600" cy="6529705"/>
          </a:xfrm>
          <a:prstGeom xmlns:a="http://schemas.openxmlformats.org/drawingml/2006/main" prst="rect">
            <a:avLst/>
          </a:prstGeom>
        </p:spPr>
      </p:pic>
      <p:pic>
        <p:nvPicPr>
          <p:cNvPr id="33" name="图片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8bd95b4b314f36">
            <a:extLst>
              <a:ext uri="{96DAC541-7B7A-43D3-8B79-37D633B846F1}">
                <asvg:svgBlip xmlns:asvg="http://schemas.microsoft.com/office/drawing/2016/SVG/main" r:embed="Rd44e019e58d5444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4" name="图片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d0bfc33dc44cf7">
            <a:alphaModFix amt="4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6284595" y="5345430"/>
            <a:ext cx="5601970" cy="1170305"/>
          </a:xfrm>
          <a:prstGeom xmlns:a="http://schemas.openxmlformats.org/drawingml/2006/main" prst="rect">
            <a:avLst/>
          </a:prstGeom>
        </p:spPr>
      </p:pic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FB419625-4F5C-4B8D-8D52-EB14C7B6A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065" y="6397625"/>
            <a:ext cx="119062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27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A323FDE5-00D1-407F-9687-28B8D2F2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" y="438150"/>
            <a:ext cx="508635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ClrTx/>
              <a:buSzTx/>
              <a:buFont typeface="+mj-ea"/>
              <a:buNone/>
              <a:defRPr sz="2475" b="0">
                <a:solidFill>
                  <a:srgbClr val="2F477F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0">
                <a:solidFill>
                  <a:srgbClr val="2F477F"/>
                </a:solidFill>
                <a:latin typeface="微软雅黑"/>
                <a:ea typeface="微软雅黑"/>
                <a:cs typeface="微软雅黑"/>
              </a:rPr>
              <a:t>05 矢量工具整理</a:t>
            </a:r>
            <a:endParaRPr sz="280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section-5.1">
            <a:extLst xmlns:a="http://schemas.openxmlformats.org/drawingml/2006/main">
              <a:ext uri="{FF2B5EF4-FFF2-40B4-BE49-F238E27FC236}">
                <a16:creationId xmlns:a16="http://schemas.microsoft.com/office/drawing/2014/main" id="{F06BD80C-81FE-494A-975A-57942049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668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862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A77C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5A77C8"/>
                </a:solidFill>
                <a:latin typeface="微软雅黑"/>
                <a:ea typeface="微软雅黑"/>
                <a:cs typeface="微软雅黑"/>
              </a:rPr>
              <a:t>5.1 主要工作：矢量工具从主窗口逻辑中单独抽出管理</a:t>
            </a:r>
          </a:p>
        </p:txBody>
      </p:sp>
      <p:sp>
        <p:nvSpPr>
          <p:cNvPr id="30" name="body">
            <a:extLst xmlns:a="http://schemas.openxmlformats.org/drawingml/2006/main">
              <a:ext uri="{FF2B5EF4-FFF2-40B4-BE49-F238E27FC236}">
                <a16:creationId xmlns:a16="http://schemas.microsoft.com/office/drawing/2014/main" id="{36A38779-2F63-40DB-B8E8-525567C32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81150"/>
            <a:ext cx="9620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① 主窗口只负责接收交互结果和触发刷新，工具细节下沉到 src/interaction/tools</a:t>
            </a:r>
          </a:p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② 捕捉、高亮、拖拽和双击反向分别有清晰入口，后续维护更容易定位</a:t>
            </a:r>
          </a:p>
        </p:txBody>
      </p:sp>
      <p:graphicFrame>
        <p:nvGraphicFramePr>
          <p:cNvPr id="39" name=""/>
          <p:cNvGraphicFramePr/>
          <p:nvPr/>
        </p:nvGraphicFramePr>
        <p:xfrm>
          <a:off xmlns:a="http://schemas.openxmlformats.org/drawingml/2006/main" x="1143000" y="2857500"/>
          <a:ext xmlns:a="http://schemas.openxmlformats.org/drawingml/2006/main" cx="9906000" cy="2571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381250"/>
                <a:gridCol w="4619625"/>
                <a:gridCol w="2905125"/>
              </a:tblGrid>
              <a:tr h="5143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文件</a:t>
                      </a:r>
                    </a:p>
                  </a:txBody>
                  <a:tcPr marL="91440" marR="91440" marT="45720" marB="45720">
                    <a:solidFill>
                      <a:srgbClr val="5B8FD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当前责任</a:t>
                      </a:r>
                    </a:p>
                  </a:txBody>
                  <a:tcPr marL="91440" marR="91440" marT="45720" marB="45720">
                    <a:solidFill>
                      <a:srgbClr val="5B8FD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汇报重点</a:t>
                      </a:r>
                    </a:p>
                  </a:txBody>
                  <a:tcPr marL="91440" marR="91440" marT="45720" marB="45720">
                    <a:solidFill>
                      <a:srgbClr val="5B8FDC"/>
                    </a:solidFill>
                  </a:tcPr>
                </a:tc>
              </a:tr>
              <a:tr h="5143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vector_snap.cpp</a:t>
                      </a:r>
                    </a:p>
                  </a:txBody>
                  <a:tcPr marL="91440" marR="91440" marT="45720" marB="45720">
                    <a:solidFill>
                      <a:srgbClr val="D9E4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点捕捉、候选点预览、点选反馈</a:t>
                      </a:r>
                    </a:p>
                  </a:txBody>
                  <a:tcPr marL="91440" marR="91440" marT="45720" marB="45720">
                    <a:solidFill>
                      <a:srgbClr val="D9E4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解决选中后高亮延迟</a:t>
                      </a:r>
                    </a:p>
                  </a:txBody>
                  <a:tcPr marL="91440" marR="91440" marT="45720" marB="45720">
                    <a:solidFill>
                      <a:srgbClr val="D9E4F6"/>
                    </a:solidFill>
                  </a:tcPr>
                </a:tc>
              </a:tr>
              <a:tr h="5143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vector_handles.cpp</a:t>
                      </a:r>
                    </a:p>
                  </a:txBody>
                  <a:tcPr marL="91440" marR="91440" marT="45720" marB="45720">
                    <a:solidFill>
                      <a:srgbClr val="EEF3F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两点矢量点柄、箭头手柄、拖拽和双击</a:t>
                      </a:r>
                    </a:p>
                  </a:txBody>
                  <a:tcPr marL="91440" marR="91440" marT="45720" marB="45720">
                    <a:solidFill>
                      <a:srgbClr val="EEF3F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完成可操作手柄</a:t>
                      </a:r>
                    </a:p>
                  </a:txBody>
                  <a:tcPr marL="91440" marR="91440" marT="45720" marB="45720">
                    <a:solidFill>
                      <a:srgbClr val="EEF3FB"/>
                    </a:solidFill>
                  </a:tcPr>
                </a:tc>
              </a:tr>
              <a:tr h="5143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handle_spec.*</a:t>
                      </a:r>
                    </a:p>
                  </a:txBody>
                  <a:tcPr marL="91440" marR="91440" marT="45720" marB="45720">
                    <a:solidFill>
                      <a:srgbClr val="D9E4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手柄规则、形状、状态描述</a:t>
                      </a:r>
                    </a:p>
                  </a:txBody>
                  <a:tcPr marL="91440" marR="91440" marT="45720" marB="45720">
                    <a:solidFill>
                      <a:srgbClr val="D9E4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保留规则声明层</a:t>
                      </a:r>
                    </a:p>
                  </a:txBody>
                  <a:tcPr marL="91440" marR="91440" marT="45720" marB="45720">
                    <a:solidFill>
                      <a:srgbClr val="D9E4F6"/>
                    </a:solidFill>
                  </a:tcPr>
                </a:tc>
              </a:tr>
              <a:tr h="5143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main_view/*</a:t>
                      </a:r>
                    </a:p>
                  </a:txBody>
                  <a:tcPr marL="91440" marR="91440" marT="45720" marB="45720">
                    <a:solidFill>
                      <a:srgbClr val="EEF3F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鼠标事件转发和 overlay 刷新</a:t>
                      </a:r>
                    </a:p>
                  </a:txBody>
                  <a:tcPr marL="91440" marR="91440" marT="45720" marB="45720">
                    <a:solidFill>
                      <a:srgbClr val="EEF3F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统一交互入口</a:t>
                      </a:r>
                    </a:p>
                  </a:txBody>
                  <a:tcPr marL="91440" marR="91440" marT="45720" marB="45720"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60588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8ac34f4eee47e7">
            <a:alphaModFix amt="8000"/>
            <a:grayscl/>
          </a:blip>
          <a:srcRect xmlns:a="http://schemas.openxmlformats.org/drawingml/2006/main" l="0" t="9099" r="0" b="86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139700" y="220345"/>
            <a:ext cx="11912600" cy="6529705"/>
          </a:xfrm>
          <a:prstGeom xmlns:a="http://schemas.openxmlformats.org/drawingml/2006/main" prst="rect">
            <a:avLst/>
          </a:prstGeom>
        </p:spPr>
      </p:pic>
      <p:pic>
        <p:nvPicPr>
          <p:cNvPr id="33" name="图片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c11064f57441f1">
            <a:extLst>
              <a:ext uri="{96DAC541-7B7A-43D3-8B79-37D633B846F1}">
                <asvg:svgBlip xmlns:asvg="http://schemas.microsoft.com/office/drawing/2016/SVG/main" r:embed="R2d514b168ba345e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4" name="图片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2064d017ec4313">
            <a:alphaModFix amt="4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6284595" y="5345430"/>
            <a:ext cx="5601970" cy="1170305"/>
          </a:xfrm>
          <a:prstGeom xmlns:a="http://schemas.openxmlformats.org/drawingml/2006/main" prst="rect">
            <a:avLst/>
          </a:prstGeom>
        </p:spPr>
      </p:pic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87B73CC7-FD7D-4993-A41E-05EB89F7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065" y="6397625"/>
            <a:ext cx="119062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27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15877B3A-3B31-4F52-90D9-D2C29E47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" y="438150"/>
            <a:ext cx="508635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ClrTx/>
              <a:buSzTx/>
              <a:buFont typeface="+mj-ea"/>
              <a:buNone/>
              <a:defRPr sz="2475" b="0">
                <a:solidFill>
                  <a:srgbClr val="2F477F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0">
                <a:solidFill>
                  <a:srgbClr val="2F477F"/>
                </a:solidFill>
                <a:latin typeface="微软雅黑"/>
                <a:ea typeface="微软雅黑"/>
                <a:cs typeface="微软雅黑"/>
              </a:rPr>
              <a:t>06 渲染问题：自动显示管线</a:t>
            </a:r>
            <a:endParaRPr sz="280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section-6.1">
            <a:extLst xmlns:a="http://schemas.openxmlformats.org/drawingml/2006/main">
              <a:ext uri="{FF2B5EF4-FFF2-40B4-BE49-F238E27FC236}">
                <a16:creationId xmlns:a16="http://schemas.microsoft.com/office/drawing/2014/main" id="{0EFFA730-39C6-454C-9491-90511999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668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862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A77C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5A77C8"/>
                </a:solidFill>
                <a:latin typeface="微软雅黑"/>
                <a:ea typeface="微软雅黑"/>
                <a:cs typeface="微软雅黑"/>
              </a:rPr>
              <a:t>6.1 总工作：从手动构建转为 IVtk 自动构建</a:t>
            </a:r>
          </a:p>
        </p:txBody>
      </p:sp>
      <p:sp>
        <p:nvSpPr>
          <p:cNvPr id="30" name="body">
            <a:extLst xmlns:a="http://schemas.openxmlformats.org/drawingml/2006/main">
              <a:ext uri="{FF2B5EF4-FFF2-40B4-BE49-F238E27FC236}">
                <a16:creationId xmlns:a16="http://schemas.microsoft.com/office/drawing/2014/main" id="{9DFD28B9-ECDE-4424-8396-02CE9D17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81150"/>
            <a:ext cx="96202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① 旧链路：显示、预览、高亮和镜像各处都可能手动构建 Mesh</a:t>
            </a:r>
          </a:p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② 问题：球与圆柱、圆锥交界处容易出现锯齿状突出角，调参也容易反复</a:t>
            </a:r>
          </a:p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③ 新链路：所有显示入口先创建 ShapeDataSource，再由显示管线生成 VTK 数据</a:t>
            </a:r>
          </a:p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④ 结果：业务层不再直接调用 BRepMesh_IncrementalMesh，质量策略集中到渲染层</a:t>
            </a:r>
          </a:p>
        </p:txBody>
      </p:sp>
      <p:sp>
        <p:nvSpPr>
          <p:cNvPr id="31" name="code-box">
            <a:extLst xmlns:a="http://schemas.openxmlformats.org/drawingml/2006/main">
              <a:ext uri="{FF2B5EF4-FFF2-40B4-BE49-F238E27FC236}">
                <a16:creationId xmlns:a16="http://schemas.microsoft.com/office/drawing/2014/main" id="{9D965E00-7811-472B-9CB0-96AC11AA1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095750"/>
            <a:ext cx="72390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 w="9525">
            <a:solidFill>
              <a:srgbClr val="C9D3EA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6344D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26344D"/>
                </a:solidFill>
                <a:latin typeface="Arial"/>
                <a:ea typeface="Arial"/>
                <a:cs typeface="Arial"/>
              </a:rPr>
              <a:t>TopoDS_Shape</a:t>
            </a:r>
          </a:p>
          <a:p xmlns:a="http://schemas.openxmlformats.org/drawingml/2006/main">
            <a:pPr>
              <a:defRPr sz="1350">
                <a:solidFill>
                  <a:srgbClr val="26344D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26344D"/>
                </a:solidFill>
                <a:latin typeface="Arial"/>
                <a:ea typeface="Arial"/>
                <a:cs typeface="Arial"/>
              </a:rPr>
              <a:t>IVtkOCC_Shape</a:t>
            </a:r>
          </a:p>
          <a:p xmlns:a="http://schemas.openxmlformats.org/drawingml/2006/main">
            <a:pPr>
              <a:defRPr sz="1350">
                <a:solidFill>
                  <a:srgbClr val="26344D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26344D"/>
                </a:solidFill>
                <a:latin typeface="Arial"/>
                <a:ea typeface="Arial"/>
                <a:cs typeface="Arial"/>
              </a:rPr>
              <a:t>ModelShapePipeline::createShapeDataSource()</a:t>
            </a:r>
          </a:p>
          <a:p xmlns:a="http://schemas.openxmlformats.org/drawingml/2006/main">
            <a:pPr>
              <a:defRPr sz="1350">
                <a:solidFill>
                  <a:srgbClr val="26344D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26344D"/>
                </a:solidFill>
                <a:latin typeface="Arial"/>
                <a:ea typeface="Arial"/>
                <a:cs typeface="Arial"/>
              </a:rPr>
              <a:t>ModelShapePipeline::copyShapeDataSourceOutput()</a:t>
            </a:r>
          </a:p>
          <a:p xmlns:a="http://schemas.openxmlformats.org/drawingml/2006/main">
            <a:pPr>
              <a:defRPr sz="1350">
                <a:solidFill>
                  <a:srgbClr val="26344D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26344D"/>
                </a:solidFill>
                <a:latin typeface="Arial"/>
                <a:ea typeface="Arial"/>
                <a:cs typeface="Arial"/>
              </a:rPr>
              <a:t>Mapper / Actor / Render</a:t>
            </a:r>
          </a:p>
        </p:txBody>
      </p:sp>
    </p:spTree>
    <p:extLst>
      <p:ext uri="{BB962C8B-B14F-4D97-AF65-F5344CB8AC3E}">
        <p14:creationId xmlns:p14="http://schemas.microsoft.com/office/powerpoint/2010/main" val="14834669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4bef8b7a28465c">
            <a:alphaModFix amt="8000"/>
            <a:grayscl/>
          </a:blip>
          <a:srcRect xmlns:a="http://schemas.openxmlformats.org/drawingml/2006/main" l="0" t="9099" r="0" b="86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139700" y="220345"/>
            <a:ext cx="11912600" cy="6529705"/>
          </a:xfrm>
          <a:prstGeom xmlns:a="http://schemas.openxmlformats.org/drawingml/2006/main" prst="rect">
            <a:avLst/>
          </a:prstGeom>
        </p:spPr>
      </p:pic>
      <p:pic>
        <p:nvPicPr>
          <p:cNvPr id="33" name="图片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1b175195a64ca9">
            <a:extLst>
              <a:ext uri="{96DAC541-7B7A-43D3-8B79-37D633B846F1}">
                <asvg:svgBlip xmlns:asvg="http://schemas.microsoft.com/office/drawing/2016/SVG/main" r:embed="Rcd4f0f2edc0848b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4" name="图片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d22a5dc0364e5e">
            <a:alphaModFix amt="4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6284595" y="5345430"/>
            <a:ext cx="5601970" cy="1170305"/>
          </a:xfrm>
          <a:prstGeom xmlns:a="http://schemas.openxmlformats.org/drawingml/2006/main" prst="rect">
            <a:avLst/>
          </a:prstGeom>
        </p:spPr>
      </p:pic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E065EBB-D512-402B-B85A-64B9E738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065" y="6397625"/>
            <a:ext cx="119062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27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F29709C3-49E3-4CBE-AC2F-7390C646E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" y="438150"/>
            <a:ext cx="5086350" cy="94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ClrTx/>
              <a:buSzTx/>
              <a:buFont typeface="+mj-ea"/>
              <a:buNone/>
              <a:defRPr sz="2475" b="0">
                <a:solidFill>
                  <a:srgbClr val="2F477F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0">
                <a:solidFill>
                  <a:srgbClr val="2F477F"/>
                </a:solidFill>
                <a:latin typeface="微软雅黑"/>
                <a:ea typeface="微软雅黑"/>
                <a:cs typeface="微软雅黑"/>
              </a:rPr>
              <a:t>07 BRepMesh_IncrementalMesh</a:t>
            </a:r>
            <a:endParaRPr sz="280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section-7.1">
            <a:extLst xmlns:a="http://schemas.openxmlformats.org/drawingml/2006/main">
              <a:ext uri="{FF2B5EF4-FFF2-40B4-BE49-F238E27FC236}">
                <a16:creationId xmlns:a16="http://schemas.microsoft.com/office/drawing/2014/main" id="{767D2406-5F86-4350-80EB-95965437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668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862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A77C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5A77C8"/>
                </a:solidFill>
                <a:latin typeface="微软雅黑"/>
                <a:ea typeface="微软雅黑"/>
                <a:cs typeface="微软雅黑"/>
              </a:rPr>
              <a:t>7.1 是什么：OCCT 用于把 B-Rep 形状离散成三角网格的工具</a:t>
            </a:r>
          </a:p>
        </p:txBody>
      </p:sp>
      <p:graphicFrame>
        <p:nvGraphicFramePr>
          <p:cNvPr id="38" name=""/>
          <p:cNvGraphicFramePr/>
          <p:nvPr/>
        </p:nvGraphicFramePr>
        <p:xfrm>
          <a:off xmlns:a="http://schemas.openxmlformats.org/drawingml/2006/main" x="1104900" y="1676400"/>
          <a:ext xmlns:a="http://schemas.openxmlformats.org/drawingml/2006/main" cx="10001250" cy="2952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381250"/>
                <a:gridCol w="7620000"/>
              </a:tblGrid>
              <a:tr h="5905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问题</a:t>
                      </a:r>
                    </a:p>
                  </a:txBody>
                  <a:tcPr marL="91440" marR="91440" marT="45720" marB="45720">
                    <a:solidFill>
                      <a:srgbClr val="5B8FD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回答</a:t>
                      </a:r>
                    </a:p>
                  </a:txBody>
                  <a:tcPr marL="91440" marR="91440" marT="45720" marB="45720">
                    <a:solidFill>
                      <a:srgbClr val="5B8FDC"/>
                    </a:solidFill>
                  </a:tcPr>
                </a:tc>
              </a:tr>
              <a:tr h="5905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控制什么</a:t>
                      </a:r>
                    </a:p>
                  </a:txBody>
                  <a:tcPr marL="91440" marR="91440" marT="45720" marB="45720">
                    <a:solidFill>
                      <a:srgbClr val="D9E4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线性偏差、角度偏差、相对偏差模式以及是否并行构建</a:t>
                      </a:r>
                    </a:p>
                  </a:txBody>
                  <a:tcPr marL="91440" marR="91440" marT="45720" marB="45720">
                    <a:solidFill>
                      <a:srgbClr val="D9E4F6"/>
                    </a:solidFill>
                  </a:tcPr>
                </a:tc>
              </a:tr>
              <a:tr h="5905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为什么之前会关注它</a:t>
                      </a:r>
                    </a:p>
                  </a:txBody>
                  <a:tcPr marL="91440" marR="91440" marT="45720" marB="45720">
                    <a:solidFill>
                      <a:srgbClr val="EEF3F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球、圆柱、圆锥等曲面靠三角化显示，偏差会影响交界处观感</a:t>
                      </a:r>
                    </a:p>
                  </a:txBody>
                  <a:tcPr marL="91440" marR="91440" marT="45720" marB="45720">
                    <a:solidFill>
                      <a:srgbClr val="EEF3FB"/>
                    </a:solidFill>
                  </a:tcPr>
                </a:tc>
              </a:tr>
              <a:tr h="5905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为什么现在业务层不需要它</a:t>
                      </a:r>
                    </a:p>
                  </a:txBody>
                  <a:tcPr marL="91440" marR="91440" marT="45720" marB="45720">
                    <a:solidFill>
                      <a:srgbClr val="D9E4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项目显示入口统一走 IVtk/OCCT 显示数据源，业务逻辑不再散落 Mesh 调用</a:t>
                      </a:r>
                    </a:p>
                  </a:txBody>
                  <a:tcPr marL="91440" marR="91440" marT="45720" marB="45720">
                    <a:solidFill>
                      <a:srgbClr val="D9E4F6"/>
                    </a:solidFill>
                  </a:tcPr>
                </a:tc>
              </a:tr>
              <a:tr h="5905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仍要注意什么</a:t>
                      </a:r>
                    </a:p>
                  </a:txBody>
                  <a:tcPr marL="91440" marR="91440" marT="45720" marB="45720">
                    <a:solidFill>
                      <a:srgbClr val="EEF3F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TKMesh 仍是 OCCT/IVtk 的模块依赖，不能因为源码无显式调用就删除链接</a:t>
                      </a:r>
                    </a:p>
                  </a:txBody>
                  <a:tcPr marL="91440" marR="91440" marT="45720" marB="45720"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  <p:sp>
        <p:nvSpPr>
          <p:cNvPr id="31" name="code-box">
            <a:extLst xmlns:a="http://schemas.openxmlformats.org/drawingml/2006/main">
              <a:ext uri="{FF2B5EF4-FFF2-40B4-BE49-F238E27FC236}">
                <a16:creationId xmlns:a16="http://schemas.microsoft.com/office/drawing/2014/main" id="{8E42204F-67E0-44BC-9274-F6FC0A059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029200"/>
            <a:ext cx="6572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 w="9525">
            <a:solidFill>
              <a:srgbClr val="C9D3EA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6344D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26344D"/>
                </a:solidFill>
                <a:latin typeface="Arial"/>
                <a:ea typeface="Arial"/>
                <a:cs typeface="Arial"/>
              </a:rPr>
              <a:t>BRepMesh_IncrementalMesh(shape, linDeflection,</a:t>
            </a:r>
          </a:p>
          <a:p xmlns:a="http://schemas.openxmlformats.org/drawingml/2006/main">
            <a:pPr>
              <a:defRPr sz="1275">
                <a:solidFill>
                  <a:srgbClr val="26344D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26344D"/>
                </a:solidFill>
                <a:latin typeface="Arial"/>
                <a:ea typeface="Arial"/>
                <a:cs typeface="Arial"/>
              </a:rPr>
              <a:t>                         isRelative, angDeflection,</a:t>
            </a:r>
          </a:p>
          <a:p xmlns:a="http://schemas.openxmlformats.org/drawingml/2006/main">
            <a:pPr>
              <a:defRPr sz="1275">
                <a:solidFill>
                  <a:srgbClr val="26344D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26344D"/>
                </a:solidFill>
                <a:latin typeface="Arial"/>
                <a:ea typeface="Arial"/>
                <a:cs typeface="Arial"/>
              </a:rPr>
              <a:t>                         isInParallel)</a:t>
            </a:r>
          </a:p>
        </p:txBody>
      </p:sp>
    </p:spTree>
    <p:extLst>
      <p:ext uri="{BB962C8B-B14F-4D97-AF65-F5344CB8AC3E}">
        <p14:creationId xmlns:p14="http://schemas.microsoft.com/office/powerpoint/2010/main" val="15789521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2ebb22db6640c4">
            <a:alphaModFix amt="8000"/>
            <a:grayscl/>
          </a:blip>
          <a:srcRect xmlns:a="http://schemas.openxmlformats.org/drawingml/2006/main" l="0" t="9099" r="0" b="86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139700" y="220345"/>
            <a:ext cx="11912600" cy="6529705"/>
          </a:xfrm>
          <a:prstGeom xmlns:a="http://schemas.openxmlformats.org/drawingml/2006/main" prst="rect">
            <a:avLst/>
          </a:prstGeom>
        </p:spPr>
      </p:pic>
      <p:pic>
        <p:nvPicPr>
          <p:cNvPr id="34" name="图片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e555870cf143c1">
            <a:extLst>
              <a:ext uri="{96DAC541-7B7A-43D3-8B79-37D633B846F1}">
                <asvg:svgBlip xmlns:asvg="http://schemas.microsoft.com/office/drawing/2016/SVG/main" r:embed="Rdce209bf27724c7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5" name="图片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7404bcf4584dfc">
            <a:alphaModFix amt="4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6284595" y="5345430"/>
            <a:ext cx="5601970" cy="1170305"/>
          </a:xfrm>
          <a:prstGeom xmlns:a="http://schemas.openxmlformats.org/drawingml/2006/main" prst="rect">
            <a:avLst/>
          </a:prstGeom>
        </p:spPr>
      </p:pic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AF26FE1-E2A5-49D0-B9FA-533F9BE5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065" y="6397625"/>
            <a:ext cx="119062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27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6A524EAD-73DE-4D02-8449-077274DA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" y="438150"/>
            <a:ext cx="508635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ClrTx/>
              <a:buSzTx/>
              <a:buFont typeface="+mj-ea"/>
              <a:buNone/>
              <a:defRPr sz="2475" b="0">
                <a:solidFill>
                  <a:srgbClr val="2F477F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0">
                <a:solidFill>
                  <a:srgbClr val="2F477F"/>
                </a:solidFill>
                <a:latin typeface="微软雅黑"/>
                <a:ea typeface="微软雅黑"/>
                <a:cs typeface="微软雅黑"/>
              </a:rPr>
              <a:t>08 问题处理与下周计划</a:t>
            </a:r>
            <a:endParaRPr sz="280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section-8.1">
            <a:extLst xmlns:a="http://schemas.openxmlformats.org/drawingml/2006/main">
              <a:ext uri="{FF2B5EF4-FFF2-40B4-BE49-F238E27FC236}">
                <a16:creationId xmlns:a16="http://schemas.microsoft.com/office/drawing/2014/main" id="{C2399AB7-DD96-443E-9A38-49E7DD65F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668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862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A77C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5A77C8"/>
                </a:solidFill>
                <a:latin typeface="微软雅黑"/>
                <a:ea typeface="微软雅黑"/>
                <a:cs typeface="微软雅黑"/>
              </a:rPr>
              <a:t>8.1 遇到的问题：显示质量、刷新时机和二进制依赖交织在一起</a:t>
            </a:r>
          </a:p>
        </p:txBody>
      </p:sp>
      <p:sp>
        <p:nvSpPr>
          <p:cNvPr id="30" name="body">
            <a:extLst xmlns:a="http://schemas.openxmlformats.org/drawingml/2006/main">
              <a:ext uri="{FF2B5EF4-FFF2-40B4-BE49-F238E27FC236}">
                <a16:creationId xmlns:a16="http://schemas.microsoft.com/office/drawing/2014/main" id="{4054976F-5F60-4C48-BA41-16DF4ECF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81150"/>
            <a:ext cx="9620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① 点选反馈延迟：选中点后 actor 已创建，但 overlay 相机和屏幕缩放没有立即同步</a:t>
            </a:r>
          </a:p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② 交界处锯齿：显示边界暴露曲面离散误差，球与圆柱、圆锥组合更明显</a:t>
            </a:r>
          </a:p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③ 构建依赖：曾出现 Release 程序加载 Debug VTK 的情况，需要保持 TKIVtk 与 VTK 版本一致</a:t>
            </a:r>
          </a:p>
        </p:txBody>
      </p:sp>
      <p:sp>
        <p:nvSpPr>
          <p:cNvPr id="31" name="section-8.2">
            <a:extLst xmlns:a="http://schemas.openxmlformats.org/drawingml/2006/main">
              <a:ext uri="{FF2B5EF4-FFF2-40B4-BE49-F238E27FC236}">
                <a16:creationId xmlns:a16="http://schemas.microsoft.com/office/drawing/2014/main" id="{447FFE2C-8540-49A4-8CC6-CCBDA7FC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337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862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A77C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5A77C8"/>
                </a:solidFill>
                <a:latin typeface="微软雅黑"/>
                <a:ea typeface="微软雅黑"/>
                <a:cs typeface="微软雅黑"/>
              </a:rPr>
              <a:t>8.2 下周计划：围绕测试文档继续收敛交互稳定性</a:t>
            </a:r>
          </a:p>
        </p:txBody>
      </p:sp>
      <p:sp>
        <p:nvSpPr>
          <p:cNvPr id="32" name="body">
            <a:extLst xmlns:a="http://schemas.openxmlformats.org/drawingml/2006/main">
              <a:ext uri="{FF2B5EF4-FFF2-40B4-BE49-F238E27FC236}">
                <a16:creationId xmlns:a16="http://schemas.microsoft.com/office/drawing/2014/main" id="{3EDB4BFB-6F14-4BE6-AAA2-39CE3AE7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57625"/>
            <a:ext cx="9620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① 回归测试两点矢量、曲线矢量、面法向和轴矢量的反向逻辑</a:t>
            </a:r>
          </a:p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② 检查预览、确认、撤销恢复、保存读取后的矢量状态是否一致</a:t>
            </a:r>
          </a:p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③ 继续减少主窗口中的交互细节，让工具层和渲染层边界更清楚</a:t>
            </a:r>
          </a:p>
        </p:txBody>
      </p:sp>
    </p:spTree>
    <p:extLst>
      <p:ext uri="{BB962C8B-B14F-4D97-AF65-F5344CB8AC3E}">
        <p14:creationId xmlns:p14="http://schemas.microsoft.com/office/powerpoint/2010/main" val="1006760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图片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1c7e8a9ae04988">
            <a:extLst>
              <a:ext uri="{96DAC541-7B7A-43D3-8B79-37D633B846F1}">
                <asvg:svgBlip xmlns:asvg="http://schemas.microsoft.com/office/drawing/2016/SVG/main" r:embed="R5e733411735140a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7" name="图片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eba7f281f348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309245" y="3634105"/>
            <a:ext cx="11574145" cy="2417445"/>
          </a:xfrm>
          <a:prstGeom xmlns:a="http://schemas.openxmlformats.org/drawingml/2006/main" prst="rect">
            <a:avLst/>
          </a:prstGeom>
        </p:spPr>
      </p:pic>
      <p:pic>
        <p:nvPicPr>
          <p:cNvPr id="18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6148c65d42432a">
            <a:extLst>
              <a:ext uri="{96DAC541-7B7A-43D3-8B79-37D633B846F1}">
                <asvg:svgBlip xmlns:asvg="http://schemas.microsoft.com/office/drawing/2016/SVG/main" r:embed="R5c9e0154c2584da4"/>
              </a:ext>
            </a:extLst>
          </a:blip>
          <a:srcRect xmlns:a="http://schemas.openxmlformats.org/drawingml/2006/main" l="0" t="27763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305435" y="5687695"/>
            <a:ext cx="11581130" cy="867410"/>
          </a:xfrm>
          <a:prstGeom xmlns:a="http://schemas.openxmlformats.org/drawingml/2006/main" prst="rect">
            <a:avLst/>
          </a:prstGeom>
        </p:spPr>
      </p:pic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F72E53F-06EE-46B5-AAD2-88D89E0683B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070917" y="2025333"/>
            <a:ext cx="8050165" cy="105918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750" b="0">
                <a:solidFill>
                  <a:srgbClr val="2F477F"/>
                </a:solidFill>
                <a:latin typeface="华文新魏"/>
                <a:ea typeface="华文新魏"/>
                <a:cs typeface="华文新魏"/>
              </a:defRPr>
            </a:pPr>
            <a:r>
              <a:rPr sz="3750" b="0">
                <a:solidFill>
                  <a:srgbClr val="2F477F"/>
                </a:solidFill>
                <a:latin typeface="华文新魏"/>
                <a:ea typeface="华文新魏"/>
                <a:cs typeface="华文新魏"/>
              </a:rPr>
              <a:t>周汇报</a:t>
            </a:r>
            <a:endParaRPr sz="7200" b="0">
              <a:solidFill>
                <a:srgbClr val="324274"/>
              </a:solidFill>
              <a:latin typeface="华文新魏"/>
              <a:ea typeface="华文新魏"/>
              <a:cs typeface="华文新魏"/>
            </a:endParaRPr>
          </a:p>
        </p:txBody>
      </p:sp>
      <p:sp>
        <p:nvSpPr>
          <p:cNvPr id="12" name="标题 1">
            <a:extLst xmlns:a="http://schemas.openxmlformats.org/drawingml/2006/main">
              <a:ext uri="{FF2B5EF4-FFF2-40B4-BE49-F238E27FC236}">
                <a16:creationId xmlns:a16="http://schemas.microsoft.com/office/drawing/2014/main" id="{4557D6F7-7948-4429-80FB-CE02AFCD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6258" y="3422015"/>
            <a:ext cx="6319484" cy="441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000" tIns="46800" rIns="90000" bIns="46800" anchor="b"/>
          <a:lstStyle xmlns:a="http://schemas.openxmlformats.org/drawingml/2006/main">
            <a:lvl1pPr algn="ctr" defTabSz="914400">
              <a:lnSpc>
                <a:spcPct val="100000"/>
              </a:lnSpc>
              <a:spcBef>
                <a:spcPct val="0"/>
              </a:spcBef>
              <a:buNone/>
              <a:defRPr sz="6000" b="1" u="none" kern="1200" cap="none" spc="3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500" b="0">
                <a:solidFill>
                  <a:srgbClr val="2F477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 i="0" u="none" cap="none" spc="300">
                <a:ln>
                  <a:noFill/>
                </a:ln>
                <a:solidFill>
                  <a:srgbClr val="2F477F"/>
                </a:solidFill>
                <a:latin typeface="微软雅黑"/>
                <a:ea typeface="微软雅黑"/>
                <a:cs typeface="微软雅黑"/>
              </a:rPr>
              <a:t>✪汇报人：陈景煌</a:t>
            </a:r>
            <a:endParaRPr sz="1800" b="0" i="0" u="none" kern="1200" cap="none" spc="300" baseline="0">
              <a:ln>
                <a:noFill/>
              </a:ln>
              <a:solidFill>
                <a:srgbClr val="324274"/>
              </a:solidFill>
              <a:latin typeface="华文新魏"/>
              <a:ea typeface="华文新魏"/>
              <a:cs typeface="华文新魏"/>
            </a:endParaRPr>
          </a:p>
        </p:txBody>
      </p:sp>
    </p:spTree>
    <p:extLst>
      <p:ext uri="{BB962C8B-B14F-4D97-AF65-F5344CB8AC3E}">
        <p14:creationId xmlns:p14="http://schemas.microsoft.com/office/powerpoint/2010/main" val="1773613922"/>
      </p:ext>
    </p:extLst>
  </p:cSld>
</p:sld>
</file>

<file path=ppt/theme/theme1.xml><?xml version="1.0" encoding="utf-8"?>
<a:theme xmlns:a="http://schemas.openxmlformats.org/drawingml/2006/main" name="第一PPT，www.1ppt.com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新版空白演示配色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2026-09-13T09:43:56.2320000Z</dcterms:created>
  <dcterms:modified xsi:type="dcterms:W3CDTF">2026-09-13T09:43:56.2320000Z</dcterms:modified>
</coreProperties>
</file>